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eiryo"/>
              </a:defRPr>
            </a:pPr>
            <a:r>
              <a:t>AC アダプタで動く デスクトップ誤り訂正型光量子コンピュータ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完全室温・109W  |  1,350万〜2,550万円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量子コンピュータは「データセンター専用」で止まっている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 または高真空イオントラップを必須とし、原理的に小型化が不可能。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560320"/>
            <a:ext cx="260604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175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5760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He冷凍機が必須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560320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560320"/>
            <a:ext cx="260604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69748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0175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30 ~ 200kW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5760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79" y="2560320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79" y="2560320"/>
            <a:ext cx="260604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0175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65760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399" y="2560320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399" y="2560320"/>
            <a:ext cx="260604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59" y="269748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59" y="30175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59" y="365760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数台単位、購入は政府・大企業のみ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12121"/>
                </a:solidFill>
                <a:latin typeface="Meiryo"/>
              </a:defRPr>
            </a:pPr>
            <a:r>
              <a:t>結果として、量子コンピュータを「実機で触れる」研究者は世界で1万人未満。教育・研究のボトルネックに。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0604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モデル(WDM込み)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828800"/>
            <a:ext cx="260604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965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889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EPR 駆動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828800"/>
            <a:ext cx="260604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965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CD4"/>
                </a:solidFill>
                <a:latin typeface="Meiryo"/>
              </a:defRPr>
            </a:pPr>
            <a:r>
              <a:t>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889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828800"/>
            <a:ext cx="260604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965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7889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  PPLN導波路OPA</a:t>
            </a:r>
          </a:p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    13dB スクイーズド光 (NTT 12.1dB CW実証)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17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  macronode TDM クラスタ</a:t>
            </a:r>
          </a:p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    光ファイバ遅延線で時分割に論理qubitを量産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74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  GKP + 表面符号 (d=3/5/7)</a:t>
            </a:r>
          </a:p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    Phase 2+ PIC 統合で +1.8dB マージン確保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840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160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  PPLN導波路の量産化</a:t>
            </a:r>
          </a:p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    NTT・住友・nLight 商用ライン稼働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617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  Soft-info MWPM 閾値確立</a:t>
            </a:r>
          </a:p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    Noh-Chamberland 2022 で1.5%確定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074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  Versal FPGA 27ns FF</a:t>
            </a:r>
          </a:p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    光-電気-光ループが ns級で閉じる時代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32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  CVBQP ⊇ BQP 証明</a:t>
            </a:r>
          </a:p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    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  <a:latin typeface="Meiryo"/>
              </a:defRPr>
            </a:pPr>
            <a:r>
              <a:t>量子コンピュータ業界最大の問題 ——「いつ役に立つのか?」—— に対する回答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260604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2606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Mode 2: CIM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組合せ最適化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OPA閾値以下動作→最大~2,000スピン</a:t>
            </a:r>
            <a:br/>
            <a:r>
              <a:t>車両ルーティング・スケジューリング</a:t>
            </a:r>
            <a:br/>
            <a:r>
              <a:t>競合CIM製品($5K-50K)を内蔵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94560"/>
            <a:ext cx="260604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94560"/>
            <a:ext cx="2606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3317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Mode 3: QRC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01752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TDMループ=量子リザーバ</a:t>
            </a:r>
            <a:br/>
            <a:r>
              <a:t>時系列予測・異常検知</a:t>
            </a:r>
            <a:br/>
            <a:r>
              <a:t>14bit soft-infoで高精度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79" y="2194560"/>
            <a:ext cx="260604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79" y="2194560"/>
            <a:ext cx="2606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3317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Mode 4: QRNG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01752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ホモダインで真空ゆらぎ測定</a:t>
            </a:r>
            <a:br/>
            <a:r>
              <a:t>認証済み量子乱数生成</a:t>
            </a:r>
            <a:br/>
            <a:r>
              <a:t>$5K-50K製品のサイドプロダクト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399" y="2194560"/>
            <a:ext cx="260604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399" y="2194560"/>
            <a:ext cx="2606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59" y="23317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Mode 5-7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59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Sensing / Imaging / Tensor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59" y="3017520"/>
            <a:ext cx="2331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SQL以下精密測定</a:t>
            </a:r>
            <a:br/>
            <a:r>
              <a:t>サブショットノイズ顕微鏡</a:t>
            </a:r>
            <a:br/>
            <a:r>
              <a:t>フォトニック行列演算でAI推論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394960"/>
            <a:ext cx="10972800" cy="64008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440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BCD4"/>
                </a:solidFill>
                <a:latin typeface="Meiryo"/>
              </a:defRPr>
            </a:pPr>
            <a:r>
              <a:t>投資家にとっての意味: FTQC完成前からMode 2-7で顧客価値を提供し、初期売上を確保。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377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201168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06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77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201168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06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377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201168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606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377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01168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6060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 (理論限界 6.1×10⁻⁷)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572000"/>
            <a:ext cx="8686800" cy="41148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590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5902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7492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0932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509320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(postselection)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657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204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34640"/>
            <a:ext cx="3154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全競合方式（超伝導/イオン/中性原子）は binary シンドローム。</a:t>
            </a:r>
            <a:br/>
            <a:r>
              <a:t>CV方式は14bitアナログ情報をデコーダに供給。</a:t>
            </a:r>
            <a:br/>
            <a:r>
              <a:t>MWPM閾値 1.5% は soft-info によって達成。</a:t>
            </a:r>
            <a:br/>
            <a:r>
              <a:t>同一物理エラー率で論理エラー率を桁違いに低減。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2011680"/>
            <a:ext cx="3520440" cy="3657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2011680"/>
            <a:ext cx="35204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834640"/>
            <a:ext cx="3154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</a:t>
            </a:r>
            <a:br/>
            <a:r>
              <a:t>格子ゲージ理論、Bose-Hubbard、分子振動 —</a:t>
            </a:r>
            <a:br/>
            <a:r>
              <a:t>DV方式では原理的に到達できない計算空間。</a:t>
            </a:r>
            <a:br/>
            <a:r>
              <a:t>CVBQP ⊇ BQP が理論的に証明済み (ITCS 2025)。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2011680"/>
            <a:ext cx="3520440" cy="3657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2011680"/>
            <a:ext cx="35204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22402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2834640"/>
            <a:ext cx="3154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同一HWで7つの動作モード。</a:t>
            </a:r>
            <a:br/>
            <a:r>
              <a:t>量子優位証明前から6モードで商用価値を提供。</a:t>
            </a:r>
            <a:br/>
            <a:r>
              <a:t>競合のどの方式でも実現不可能な多用途性。</a:t>
            </a:r>
            <a:br/>
            <a:r>
              <a:t>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35204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375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33756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7033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690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06908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43484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920240"/>
            <a:ext cx="35204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201168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01168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27432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3375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19" y="333756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703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19" y="37033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0690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19" y="406908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10–100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4434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443484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~10⁻⁴ (MWPM)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5029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79" y="1920240"/>
            <a:ext cx="35204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59" y="2011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2331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59" y="274320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33375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333756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703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37033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40690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06908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10–1,000+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44348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443484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502920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ブルーオーシャン市場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01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78308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801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78308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801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801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78308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801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78308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80136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14884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16712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14884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16712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14884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16712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14884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16712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14884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16712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14884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16712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51460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5328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51460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5328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51460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5328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51460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5328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51460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5328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514600"/>
            <a:ext cx="1783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53288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88036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8986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88036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8986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88036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8986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88036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8986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88036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8986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880360"/>
            <a:ext cx="178308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89864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24612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2644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24612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2644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24612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2644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24612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2644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24612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2644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246120"/>
            <a:ext cx="1783080" cy="34747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264408"/>
            <a:ext cx="16459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4389120"/>
            <a:ext cx="352044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448056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4754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516636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量子研究・開発全組織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51959" y="4389120"/>
            <a:ext cx="352044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34840" y="448056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34840" y="4754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650機関 · 約117億円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34840" y="516636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CV / QEC / 教育適合顧客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955279" y="4389120"/>
            <a:ext cx="3520440" cy="13716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138159" y="448056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C6DA"/>
                </a:solidFill>
                <a:latin typeface="Meiryo"/>
              </a:defRPr>
            </a:pPr>
            <a:r>
              <a:t>S O M   Y 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38159" y="475488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38159" y="516636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3年目シェア 15% 獲得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60604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CD4"/>
                </a:solidFill>
                <a:latin typeface="Meiryo"/>
              </a:defRPr>
            </a:pPr>
            <a:r>
              <a:t>100M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175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74720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p_phys=5×10⁻⁴, d=3/5/7 すべての論理エラー率予測を約1億ショットで再現。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011680"/>
            <a:ext cx="260604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1488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CD4"/>
                </a:solidFill>
                <a:latin typeface="Meiryo"/>
              </a:defRPr>
            </a:pPr>
            <a:r>
              <a:t>9件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文 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0175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474720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79" y="2011680"/>
            <a:ext cx="260604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CD4"/>
                </a:solidFill>
                <a:latin typeface="Meiryo"/>
              </a:defRPr>
            </a:pPr>
            <a:r>
              <a:t>156q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 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0175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474720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399" y="2011680"/>
            <a:ext cx="260604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59" y="214884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BCD4"/>
                </a:solidFill>
                <a:latin typeface="Meiryo"/>
              </a:defRPr>
            </a:pPr>
            <a:r>
              <a:t>確定版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52559" y="301752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59" y="3474720"/>
            <a:ext cx="2331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PIC統合損失など13項目をBSモデルで個別計上。隠れた損失なし。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12121"/>
                </a:solidFill>
                <a:latin typeface="Meiryo"/>
              </a:defRPr>
            </a:pPr>
            <a:r>
              <a:t>→ 設計書 14本 (システム/ノイズ/GKP/位相ロック/FF/デコーダ/機械/工業デザイン他) 公開 — 完全な技術DD可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82880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9202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19456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79" y="182880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19202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19456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399" y="182880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79" y="19202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79" y="219456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79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79" y="320040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2121"/>
                </a:solidFill>
                <a:latin typeface="Meiryo"/>
              </a:defRPr>
            </a:pPr>
            <a:r>
              <a:t>0.8億円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572000"/>
            <a:ext cx="109728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6177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約800万円の装置直接費で Level A 成功確率を 25-35% から 50%超 へ引き上げ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40080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640080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97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1752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へ移行。製品要件 p_L~3.3×10⁻⁴。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66160"/>
            <a:ext cx="640080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6616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11879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/ 約2,900万円(完全コスト) で Phase -1 開始後2ヶ月に実施。失敗時は DV-FBQC へフォールバック。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1828800"/>
            <a:ext cx="402336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920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286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何らかのFTQC実現確率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00BCD4"/>
                </a:solidFill>
                <a:latin typeface="Meiryo"/>
              </a:defRPr>
            </a:pPr>
            <a:r>
              <a:t>81 - 90 %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(Level B+, 開始後約4年)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74903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CV pure 81% / CV+QD 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2336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CV不成立時は DV-FBQC 方式</a:t>
            </a:r>
            <a:br/>
            <a:r>
              <a:t>(本体28kg / 2.1kW / 約6,480万円)</a:t>
            </a:r>
            <a:br/>
            <a:r>
              <a:t>にフォールバック — 投資の下振れリスクを限定。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06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GPU Stim シミュレーション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CD4"/>
                </a:solidFill>
                <a:latin typeface="Meiryo"/>
              </a:defRPr>
            </a:pPr>
            <a:r>
              <a:t>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737360"/>
            <a:ext cx="260604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828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606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971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CD4"/>
                </a:solidFill>
                <a:latin typeface="Meiryo"/>
              </a:defRPr>
            </a:pPr>
            <a:r>
              <a:t>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79" y="1737360"/>
            <a:ext cx="260604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828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06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71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59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CD4"/>
                </a:solidFill>
                <a:latin typeface="Meiryo"/>
              </a:defRPr>
            </a:pPr>
            <a:r>
              <a:t>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5399" y="1737360"/>
            <a:ext cx="2606040" cy="1828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59" y="1828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5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59" y="2606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2971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世界初の論理エラー抑制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931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4297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約1,500億円超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4709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約1,350億円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120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5120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約560億円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532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5532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0604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606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 字 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Phase 2完了後1〜2年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量産30–50台で達成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828800"/>
            <a:ext cx="260604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828800"/>
            <a:ext cx="2606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 利 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~33%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7432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79" y="1828800"/>
            <a:ext cx="260604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79" y="1828800"/>
            <a:ext cx="2606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Y 3   A R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18億円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7432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100台 × 1,800万円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399" y="1828800"/>
            <a:ext cx="260604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399" y="1828800"/>
            <a:ext cx="2606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59" y="1965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Y 4   A R 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36億円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59" y="27432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200台 (SAM 30%超)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80"/>
            <a:ext cx="10972800" cy="64008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886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BCD4"/>
                </a:solidFill>
                <a:latin typeface="Meiryo"/>
              </a:defRPr>
            </a:pPr>
            <a:r>
              <a:t>投資論理: 失敗時上限 4.6億円 (Phase -1)、成功時 ARR 36億円 (Y4) — リスク調整後リターン ~3.5倍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828800"/>
            <a:ext cx="3291840" cy="64008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874519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CD4"/>
                </a:solidFill>
                <a:latin typeface="Meiryo"/>
              </a:defRPr>
            </a:pPr>
            <a:r>
              <a:t>Taros 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51760"/>
            <a:ext cx="50292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5029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量子脳 (NeuroQ)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546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CV量子直接互換フレームワーク</a:t>
            </a:r>
            <a:br/>
            <a:r>
              <a:t>C.elegans 302ニューロン→ロボット知能</a:t>
            </a:r>
            <a:br/>
            <a:r>
              <a:t>市場: $20B→$130B (2029)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651760"/>
            <a:ext cx="50292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2651760"/>
            <a:ext cx="5029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7889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量子ホログラム (QGH)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1546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QFTで干渉パターンN≈10⁶倍高速計算</a:t>
            </a:r>
            <a:br/>
            <a:r>
              <a:t>GKPフーリエ構造=ホログラム構造</a:t>
            </a:r>
            <a:br/>
            <a:r>
              <a:t>6G要件: 4.32Tbps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50292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480560"/>
            <a:ext cx="5029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17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量子創薬・不老長寿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834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プロトントンネリング(DNA変異の量子起源)</a:t>
            </a:r>
            <a:br/>
            <a:r>
              <a:t>セノリティクス分子の量子設計</a:t>
            </a:r>
            <a:br/>
            <a:r>
              <a:t>P450精度 71%→94%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480560"/>
            <a:ext cx="50292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4480560"/>
            <a:ext cx="5029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4617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ロボット知能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49834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CIMで50ms制御壁突破</a:t>
            </a:r>
            <a:br/>
            <a:r>
              <a:t>スクイーズド光でSQL超え力覚</a:t>
            </a:r>
            <a:br/>
            <a:r>
              <a:t>量子モジュール供給TAM ~$500M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2860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2331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606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383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4290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703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429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448056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0" y="45262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800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526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購入初日から7つのモードで価値を届ける。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