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9728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315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FFFFFF"/>
                </a:solidFill>
                <a:latin typeface="Meiryo"/>
              </a:defRPr>
            </a:pPr>
            <a:r>
              <a:t>TAROS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BCD4"/>
                </a:solidFill>
                <a:latin typeface="Meiryo"/>
              </a:defRPr>
            </a:pPr>
            <a:r>
              <a:t>D e s k t o p   P h o t o n i c   Q u a n t u m   C o m p u t e 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43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AC アダプタで動く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デスクトップ誤り訂正型光量子コンピュータ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Meiryo"/>
              </a:defRPr>
            </a:pPr>
            <a:r>
              <a:t>7-in-1 Quantum Platform  |  完全室温・109W  |  1,350万〜2,550万円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6C6DA"/>
                </a:solidFill>
                <a:latin typeface="Meiryo"/>
              </a:defRPr>
            </a:pPr>
            <a:r>
              <a:t>購入初日から6つの商用モードが稼働 — 量子優位証明を待たずに価値を提供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BCD4"/>
                </a:solidFill>
                <a:latin typeface="Meiryo"/>
              </a:defRPr>
            </a:pPr>
            <a:r>
              <a:t>I n v e s t o r   P i t c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17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B0BEC5"/>
                </a:solidFill>
                <a:latin typeface="Meiryo"/>
              </a:defRPr>
            </a:pPr>
            <a:r>
              <a:t>C o n f i d e n t i a l   |   v 4 .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V I S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12121"/>
                </a:solidFill>
                <a:latin typeface="Meiryo"/>
              </a:defRPr>
            </a:pPr>
            <a:r>
              <a:t>1台で7役。購入初日から価値を届ける。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FTQC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量子化学・量子重力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3931920"/>
            <a:ext cx="118872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Phase 0+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21408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21408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4560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CIM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組合せ最適化</a:t>
            </a:r>
            <a:br/>
            <a:r>
              <a:t>~2,000スピン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4560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94176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94176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67328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8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QRC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時系列予測</a:t>
            </a:r>
            <a:br/>
            <a:r>
              <a:t>異常検知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67328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6944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66944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0096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0096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QRNG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0096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量子乱数</a:t>
            </a:r>
            <a:br/>
            <a:r>
              <a:t>~200Mbps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40096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0096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39712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39712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12864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12864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Sensing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12864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SQL以下</a:t>
            </a:r>
            <a:br/>
            <a:r>
              <a:t>精密測定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12864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12864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0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12480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85632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85632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Imaging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85632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サブショットノイズ</a:t>
            </a:r>
            <a:br/>
            <a:r>
              <a:t>顕微鏡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485632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8563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985248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985248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58400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0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Tensor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AI推論加速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58400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58400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Mode 2-7は購入初日からSW変更のみで稼働。追加ハードウェアゼロ。全モード共通HW。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† 初期SW設定1-2週間を含む。Mode 1(FTQC)はファームウェア更新で段階的に進化。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H E   P R O B L E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量子コンピュータは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「データセンター専用」で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止まっている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575"/>
                </a:solidFill>
                <a:latin typeface="Meiryo"/>
              </a:defRPr>
            </a:pPr>
            <a:r>
              <a:t>超伝導・イオン方式は希釈冷凍機 (15mK)</a:t>
            </a:r>
            <a:br/>
            <a:r>
              <a:t>または高真空イオントラップを必須とし、</a:t>
            </a:r>
            <a:br/>
            <a:r>
              <a:t>原理的に小型化が不可能。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09728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09728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2344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冷 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15mK ~ 4K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希釈冷凍機 / He冷凍機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09728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52560" y="109728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20" y="12344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消 費 電 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30~200kW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施設の専用配電が必要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01752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301752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1546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サ イ 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部屋規模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既存建屋への設置に改装必要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301752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52560" y="301752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20" y="31546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価 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4.5~22.5億円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購入は政府・大企業のみ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303520"/>
            <a:ext cx="109728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3492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12121"/>
                </a:solidFill>
                <a:latin typeface="Meiryo"/>
              </a:defRPr>
            </a:pPr>
            <a:r>
              <a:t>結果: 量子コンピュータを「実機で触れる」研究者は世界で1万人未満。教育・研究のボトルネック。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4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O U R   S O L U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光だから、室温で動く。光だから、デスクに置ける。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7.5kg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Pro モデル(WDM込み)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109W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USB-PD EPR 駆動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79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冷凍機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完全室温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15399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59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価格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Pro モデル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474720"/>
            <a:ext cx="530352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H O W  —  技 術 ス タ ッ ク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97763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995927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PPLN導波路OPA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25195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13dB スクイーズド光 (NTT 12.1dB CW実証)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61772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636007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macronode TDM クラスタ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8920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光ファイバ遅延線で時分割に論理qubitを量産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525780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2760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GKP + 表面符号 (d=3/5/7)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5321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Phase 2+ PIC 統合で +1.8dB マージン確保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3474720"/>
            <a:ext cx="548640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35661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W H Y   N O W  —  今 、 成 立 す る 理 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97763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99592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PPLN導波路の量産化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23367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NTT・住友・nLight 商用ライン稼働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452627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454456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Soft-info MWPM 閾値確立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78231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Noh-Chamberland 2022 で1.5%確定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507492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509320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Versal FPGA 27ns FF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533095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光-電気-光ループが ns級で閉じる時代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562355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64184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CVBQP ⊇ BQP 証明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587959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ITCS 2025: CV量子計算≧標準QC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5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D A Y - 1   V A L U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量子優位を待たない。購入初日から収益化。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57575"/>
                </a:solidFill>
                <a:latin typeface="Meiryo"/>
              </a:defRPr>
            </a:pPr>
            <a:r>
              <a:t>量子コンピュータ業界最大の問題 —「いつ役に立つのか?」— に対する回答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54406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544068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4027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Mode 2: CIM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240279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BCD4"/>
                </a:solidFill>
                <a:latin typeface="Meiryo"/>
              </a:defRPr>
            </a:pPr>
            <a:r>
              <a:t>組合せ最適化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06039"/>
            <a:ext cx="5074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OPA閾値以下動作で最大~2,000スピン。車両ルーティング・スケジューリング。競合CIM製品($5K-50K)を内蔵。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103120"/>
            <a:ext cx="54406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2103120"/>
            <a:ext cx="544068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24027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Mode 3: QRC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240279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BCD4"/>
                </a:solidFill>
                <a:latin typeface="Meiryo"/>
              </a:defRPr>
            </a:pPr>
            <a:r>
              <a:t>量子リザーバ計算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06039"/>
            <a:ext cx="5074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TDMループ=量子リザーバ。時系列予測・異常検知。14bit soft-infoで高精度。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657600"/>
            <a:ext cx="54406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657600"/>
            <a:ext cx="544068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7947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Mode 4: QRNG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37947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BCD4"/>
                </a:solidFill>
                <a:latin typeface="Meiryo"/>
              </a:defRPr>
            </a:pPr>
            <a:r>
              <a:t>量子乱数 ~200Mbps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5074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ホモダインで真空ゆらぎ測定。認証済み量子乱数生成。$5K-50K製品のサイドプロダクト。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54406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3657600"/>
            <a:ext cx="544068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37947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Mode 5-7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7947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BCD4"/>
                </a:solidFill>
                <a:latin typeface="Meiryo"/>
              </a:defRPr>
            </a:pPr>
            <a:r>
              <a:t>Sensing / Imaging / Tensor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160520"/>
            <a:ext cx="5074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SQL以下精密測定 / サブショットノイズ顕微鏡 / フォトニック行列演算でAI推論加速。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44068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BCD4"/>
                </a:solidFill>
                <a:latin typeface="Meiryo"/>
              </a:defRPr>
            </a:pPr>
            <a:r>
              <a:t>投資家にとっての意味: FTQC完成前からMode 2-7で顧客価値を提供し、初期売上を確保。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6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E C H N I C A L   E D G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性能の根拠 — 数字は文献と独立計算で裏付け済み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13dB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PPLN OPA</a:t>
            </a:r>
            <a:br/>
            <a:r>
              <a:t>生成スクイージング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L=0.27dB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全劣化 (BSモデル)</a:t>
            </a:r>
            <a:br/>
            <a:r>
              <a:t>PIC統合・GAWBS・QE込み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9.3dB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実効 σ_eff</a:t>
            </a:r>
            <a:br/>
            <a:r>
              <a:t>BS モデル (現実Δ=0.12)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~4.9×10⁻³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p_phys</a:t>
            </a:r>
            <a:br/>
            <a:r>
              <a:t>物理エラー率 (erfc)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1828800"/>
            <a:ext cx="2103120" cy="16459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~3.3×10⁻⁴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eiryo"/>
              </a:defRPr>
            </a:pPr>
            <a:r>
              <a:t>p_L (d=7, MWPM)</a:t>
            </a:r>
            <a:br/>
            <a:r>
              <a:t>製品要件 (理論限界 6.1×10⁻⁷)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閾値マージン — Phase 2+ PIC 統合での量子誤り訂正成立余裕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97680"/>
            <a:ext cx="8686800" cy="41148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3159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eiryo"/>
              </a:defRPr>
            </a:pPr>
            <a:r>
              <a:t>実効 σ_eff (Phase 2+ PIC現実)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3159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Meiryo"/>
              </a:defRPr>
            </a:pPr>
            <a:r>
              <a:t>9.3 dB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800600"/>
            <a:ext cx="6583680" cy="41148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8188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eiryo"/>
              </a:defRPr>
            </a:pPr>
            <a:r>
              <a:t>閾値 (postselection)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481888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Meiryo"/>
              </a:defRPr>
            </a:pPr>
            <a:r>
              <a:t>7.5 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349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12121"/>
                </a:solidFill>
                <a:latin typeface="Meiryo"/>
              </a:defRPr>
            </a:pPr>
            <a:r>
              <a:t>→ Phase 2+ PIC 余裕 +1.8dB (postselection) — 製品要件 p_L ≈ 3.3×10⁻⁴ を達成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7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D E C I S I V E   A D V A N T A G E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CV方式の3つの決定的優位性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105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17373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8288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14bit soft-info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2402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全競合方式(超伝導/イオン/中性原子)は binary シンドローム。CV方式は14bitアナログ情報をデコーダに供給。MWPM閾値 1.5% は soft-info によって達成。同一物理エラー率で論理エラー率を桁違いに低減。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3375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4107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0160" y="33375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34290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qumode = 無限次元ヒルベルト空間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8404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ボソニック場理論をネイティブにシミュレーション。格子ゲージ理論、Bose-Hubbard、分子振動 — DV方式では原理的に到達できない計算空間。CVBQP ⊇ BQP が理論的に証明済み (ITCS 2025)。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377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0109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49377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50292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7-in-1 プラットフォーム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4406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同一HWで7つの動作モード。量子優位証明前から6モードで商用価値を提供。競合のどの方式でも実現不可能な多用途性。投資リスクを本質的に低減。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8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 R O D U C T   L I N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単一プラットフォームで 3 製品 — d=3/5/7 スケーリング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Edu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1,350万円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01752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~4.3kg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383279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383279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~104W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49039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749039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1-10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11480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~10⁻² (MWPM)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教育・QEC研究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Pro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1828800"/>
            <a:ext cx="960120" cy="2743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182880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FLAGSHIP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017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19" y="301752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~7.5kg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3383279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89319" y="3383279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~109W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3749039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9319" y="3749039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10-100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41148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19" y="411480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~10⁻⁴ (MWPM)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34840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研究・VQE / QAOA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55279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59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Max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59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59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2,550万円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59" y="3017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92640" y="301752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~9.7kg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59" y="3383279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3383279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~112W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59" y="3749039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3749039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10-1,000+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59" y="41148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2640" y="411480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~3.3×10⁻⁴ (MWPM)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38159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38159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FTQC・量子化学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57575"/>
                </a:solidFill>
                <a:latin typeface="Meiryo"/>
              </a:defRPr>
            </a:pPr>
            <a:r>
              <a:t>単一光学プラットフォーム + PMF遅延線の長さ調整のみで3製品を展開 → 量産設計コスト 1/3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9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M A R K E T   &amp;   C O M P E T I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「量子コンピュータの Raspberry Pi」— ブルーオーシャン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製品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方式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93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サイズ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冷却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657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価格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057400"/>
            <a:ext cx="178308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207568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IBM QS Two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40" y="2057400"/>
            <a:ext cx="178308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50592" y="207568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超伝導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2057400"/>
            <a:ext cx="178308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9392" y="207568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部屋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2057400"/>
            <a:ext cx="178308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08192" y="207568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200kW+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2057400"/>
            <a:ext cx="178308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207568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15mK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92640" y="2057400"/>
            <a:ext cx="178308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65792" y="207568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22.5億円+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2423160"/>
            <a:ext cx="17830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" y="244144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IonQ Forte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40" y="2423160"/>
            <a:ext cx="17830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50592" y="244144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イオン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06240" y="2423160"/>
            <a:ext cx="17830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79392" y="244144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ラック×3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423160"/>
            <a:ext cx="17830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08192" y="244144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30kW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63840" y="2423160"/>
            <a:ext cx="17830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36992" y="244144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高真空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423160"/>
            <a:ext cx="17830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65792" y="244144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4.5億円+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2788920"/>
            <a:ext cx="178308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" y="280720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Xanadu Aurora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77440" y="2788920"/>
            <a:ext cx="178308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50592" y="280720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フォトニック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06240" y="2788920"/>
            <a:ext cx="178308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280720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ラック多数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5040" y="2788920"/>
            <a:ext cx="178308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08192" y="280720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100kW+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2788920"/>
            <a:ext cx="178308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36992" y="280720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4K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92640" y="2788920"/>
            <a:ext cx="178308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65792" y="280720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15億円+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3154680"/>
            <a:ext cx="1783080" cy="34747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1792" y="317296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Taros Pro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377440" y="3154680"/>
            <a:ext cx="1783080" cy="34747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450592" y="317296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CV 光子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6240" y="3154680"/>
            <a:ext cx="1783080" cy="34747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79392" y="317296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7.5kg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35040" y="3154680"/>
            <a:ext cx="1783080" cy="34747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08192" y="317296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109W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63840" y="3154680"/>
            <a:ext cx="1783080" cy="34747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36992" y="317296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完全室温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92640" y="3154680"/>
            <a:ext cx="1783080" cy="34747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65792" y="317296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3840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市場規模 — TAM / SAM / SOM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48640" y="4297680"/>
            <a:ext cx="105156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1520" y="431596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T A 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86000" y="431596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1,250機関 · 225億円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0" y="43434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量子研究・開発全組織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48640" y="4937760"/>
            <a:ext cx="77724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1520" y="495604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S A 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495604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650機関 · 約117億円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00800" y="49834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CV/QEC/教育適合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48640" y="5577840"/>
            <a:ext cx="4572000" cy="5486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1520" y="559612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6C6DA"/>
                </a:solidFill>
                <a:latin typeface="Meiryo"/>
              </a:defRPr>
            </a:pPr>
            <a:r>
              <a:t>S O M   Y 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286000" y="559612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eiryo"/>
              </a:defRPr>
            </a:pPr>
            <a:r>
              <a:t>100機関 · 18億円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10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V A L I D A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机上の数字ではない — 既に独立検証済み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5440680" cy="1920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BCD4"/>
                </a:solidFill>
                <a:latin typeface="Meiryo"/>
              </a:defRPr>
            </a:pPr>
            <a:r>
              <a:t>100M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3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shots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874519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Stim 量子シミュレーション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28600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p_phys=5×10⁻⁴, d=3/5/7 すべての論理エラー率予測を約1億ショットで再現。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737360"/>
            <a:ext cx="5440680" cy="1920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874519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BCD4"/>
                </a:solidFill>
                <a:latin typeface="Meiryo"/>
              </a:defRPr>
            </a:pPr>
            <a:r>
              <a:t>9件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37743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文 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1874519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公開文献との独立照合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28600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Noh-Chamberland 2022, Stafford-Menicucci 2025 など9件の査読済論文と数値突合。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840479"/>
            <a:ext cx="5440680" cy="1920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977639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BCD4"/>
                </a:solidFill>
                <a:latin typeface="Meiryo"/>
              </a:defRPr>
            </a:pPr>
            <a:r>
              <a:t>156q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8055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実 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3977639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IBM Quantum 実機検証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4389119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ibm_fez (156 qubit) 上でデコーダ計算量・サイクル時間を実測。FPGA設計値と整合。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3840479"/>
            <a:ext cx="5440680" cy="1920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3977639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BCD4"/>
                </a:solidFill>
                <a:latin typeface="Meiryo"/>
              </a:defRPr>
            </a:pPr>
            <a:r>
              <a:t>確定版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3977639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ノイズバジェット (BSモデル)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4389119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GAWBS, EO消光比, AWG, PIC統合損失など13項目をBSモデルで個別計上。隠れた損失なし。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12121"/>
                </a:solidFill>
                <a:latin typeface="Meiryo"/>
              </a:defRPr>
            </a:pPr>
            <a:r>
              <a:t>→ 設計書 14本 (システム/ノイズ/GKP/位相ロック/FF/デコーダ/機械/工業デザイン他) 公開 — 完全な技術DD可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11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R O A D M A 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段階的検証 → プロトタイプ → 量産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43200"/>
            <a:ext cx="109728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1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45920"/>
            <a:ext cx="2606040" cy="22860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373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9659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12ヶ月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eiryo"/>
              </a:defRPr>
            </a:pPr>
            <a:r>
              <a:t>原理検証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CD4"/>
                </a:solidFill>
                <a:latin typeface="Meiryo"/>
              </a:defRPr>
            </a:pPr>
            <a:r>
              <a:t>4.6億円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30175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3108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3375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12-18ヶ月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611879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Edu試作 / Break-even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114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1.8億円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5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79" y="16459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17373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659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12-18ヶ月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Pro 製品化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7432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1.5億円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1267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399" y="30175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59" y="3108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59" y="33375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6-12ヶ月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59" y="3611879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量産 (100台/年)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59" y="4114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0.8億円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577840"/>
            <a:ext cx="1097280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6235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最重要マイルストーン: G-EXP1 (開始後2ヶ月) — 約800万円で Level A 成功確率を 25-35% → 50%超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R I S K   A S S E S S M E N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リスクは透明に開示。レッドチーム評価を経た保守的見積り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0195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OPA 13dB パルス未実証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NTT 12.1dB CW は実証済 → SiN clad 改良で 0.9dB ギャップ。Phase -1 で検証。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3464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83464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MWPM / Soft-info 製品化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0040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Phase 0/1 は UF 350ns で実証 → Phase 2+ PIC で MWPM 510ns へ移行。製品要件 p_L~3.3×10⁻⁴。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84048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91363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G-EXP1 結果未取得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062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約800万円 / 約2,900万円(完全コスト) で Phase -1 開始後2ヶ月に実施。失敗時は DV-FBQC へフォールバック。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79" y="1828800"/>
            <a:ext cx="4023360" cy="3931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1920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フォールバック完備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22860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何らかのFTQC実現確率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00BCD4"/>
                </a:solidFill>
                <a:latin typeface="Meiryo"/>
              </a:defRPr>
            </a:pPr>
            <a:r>
              <a:t>81 - 90 %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32918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(Level B+, 開始後約4年)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749039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CV pure 81% / CV+QD 90%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11480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CV不成立時は DV-FBQC 方式</a:t>
            </a:r>
            <a:br/>
            <a:r>
              <a:t>(本体28kg / 2.1kW / 約6,480万円)</a:t>
            </a:r>
            <a:br/>
            <a:r>
              <a:t>にフォールバック — 投資の下振れリスクを限定。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C A P I T A L   E F F I C I E N C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段階的に検証、最小資本で世界初へ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606040" cy="1828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12121"/>
                </a:solidFill>
                <a:latin typeface="Meiryo"/>
              </a:defRPr>
            </a:pPr>
            <a:r>
              <a:t>75万円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860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2週間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6060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  <a:latin typeface="Meiryo"/>
              </a:defRPr>
            </a:pPr>
            <a:r>
              <a:t>原理判定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7180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GPU Stim シミュレーション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286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CD4"/>
                </a:solidFill>
                <a:latin typeface="Meiryo"/>
              </a:defRPr>
            </a:pPr>
            <a:r>
              <a:t>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1737360"/>
            <a:ext cx="2606040" cy="1828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828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12121"/>
                </a:solidFill>
                <a:latin typeface="Meiryo"/>
              </a:defRPr>
            </a:pPr>
            <a:r>
              <a:t>800万円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2860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2ヶ月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6060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  <a:latin typeface="Meiryo"/>
              </a:defRPr>
            </a:pPr>
            <a:r>
              <a:t>GKP光学実証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97180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装置直接費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286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CD4"/>
                </a:solidFill>
                <a:latin typeface="Meiryo"/>
              </a:defRPr>
            </a:pPr>
            <a:r>
              <a:t>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79" y="1737360"/>
            <a:ext cx="2606040" cy="1828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1828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12121"/>
                </a:solidFill>
                <a:latin typeface="Meiryo"/>
              </a:defRPr>
            </a:pPr>
            <a:r>
              <a:t>2,900万円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2860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5ヶ月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6060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  <a:latin typeface="Meiryo"/>
              </a:defRPr>
            </a:pPr>
            <a:r>
              <a:t>完全コスト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97180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人件費込み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59" y="2286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CD4"/>
                </a:solidFill>
                <a:latin typeface="Meiryo"/>
              </a:defRPr>
            </a:pPr>
            <a:r>
              <a:t>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15399" y="1737360"/>
            <a:ext cx="2606040" cy="1828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59" y="1828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eiryo"/>
              </a:defRPr>
            </a:pPr>
            <a:r>
              <a:t>4.6億円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59" y="22860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EC5"/>
                </a:solidFill>
                <a:latin typeface="Meiryo"/>
              </a:defRPr>
            </a:pPr>
            <a:r>
              <a:t>12ヶ月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59" y="26060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QEC Break-even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59" y="297180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EC5"/>
                </a:solidFill>
                <a:latin typeface="Meiryo"/>
              </a:defRPr>
            </a:pPr>
            <a:r>
              <a:t>世界初の論理エラー抑制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競合の累計調達額 — 桁違いの資本効率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0" y="4389120"/>
            <a:ext cx="822960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40740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PsiQuantum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52760" y="4407407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約1,500億円超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86000" y="4892040"/>
            <a:ext cx="740664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91032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IonQ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9800" y="4910327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約1,350億円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0" y="5394960"/>
            <a:ext cx="310896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Xanadu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54132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約560億円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86000" y="5897880"/>
            <a:ext cx="365760" cy="36576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916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Taros (計画)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88920" y="59161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約8.7億円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14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F I N A N C I A L   P R O J E C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黒字化から36億円 ARR を視野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53035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530352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黒字化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Phase 2完了後 1〜2年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21488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量産30-50台で達成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017520"/>
            <a:ext cx="53035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017520"/>
            <a:ext cx="530352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粗利率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383279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~33%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3429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規模効果で逓増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737360"/>
            <a:ext cx="5303520" cy="256032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8288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A R R   P R O J E C T I O 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286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Y 3   A R 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5603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eiryo"/>
              </a:defRPr>
            </a:pPr>
            <a:r>
              <a:t>18億円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108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100台 × 1,800万円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286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Y 4   A R 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25603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CD4"/>
                </a:solidFill>
                <a:latin typeface="Meiryo"/>
              </a:defRPr>
            </a:pPr>
            <a:r>
              <a:t>36億円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3108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200台 (SAM 30%超)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572000"/>
            <a:ext cx="10972800" cy="5486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6177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BCD4"/>
                </a:solidFill>
                <a:latin typeface="Meiryo"/>
              </a:defRPr>
            </a:pPr>
            <a:r>
              <a:t>投資論理: 失敗時上限 4.6億円 (Phase -1)、成功時 ARR 36億円 (Y4) — リスク調整後リターン ~3.5倍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15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2 0 3 0   M O O N S H O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Taros が拓く4つの未来産業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1828800"/>
            <a:ext cx="3291840" cy="64008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0" y="1874519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BCD4"/>
                </a:solidFill>
                <a:latin typeface="Meiryo"/>
              </a:defRPr>
            </a:pPr>
            <a:r>
              <a:t>Taros 7-in-1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651760"/>
            <a:ext cx="5029200" cy="1554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651760"/>
            <a:ext cx="5029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7889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量子脳 (NeuroQ)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5468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CV量子直接互換フレームワーク</a:t>
            </a:r>
            <a:br/>
            <a:r>
              <a:t>C.elegans 302ニューロン→ロボット知能</a:t>
            </a:r>
            <a:br/>
            <a:r>
              <a:t>市場: $20B→$130B (2029)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2651760"/>
            <a:ext cx="5029200" cy="1554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0" y="2651760"/>
            <a:ext cx="5029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7889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量子ホログラム (QGH)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315468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QFTで干渉パターンN≈10⁶倍高速計算</a:t>
            </a:r>
            <a:br/>
            <a:r>
              <a:t>GKPフーリエ構造=ホログラム構造</a:t>
            </a:r>
            <a:br/>
            <a:r>
              <a:t>6G要件: 4.32Tbps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480560"/>
            <a:ext cx="5029200" cy="1554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480560"/>
            <a:ext cx="5029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177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量子創薬・不老長寿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98348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プロトントンネリング(DNA変異の量子起源)</a:t>
            </a:r>
            <a:br/>
            <a:r>
              <a:t>セノリティクス分子の量子設計</a:t>
            </a:r>
            <a:br/>
            <a:r>
              <a:t>P450精度 71%→94%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4480560"/>
            <a:ext cx="5029200" cy="1554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0" y="4480560"/>
            <a:ext cx="5029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46177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ロボット知能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498348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CIMで50ms制御壁突破</a:t>
            </a:r>
            <a:br/>
            <a:r>
              <a:t>スクイーズド光でSQL超え力覚</a:t>
            </a:r>
            <a:br/>
            <a:r>
              <a:t>量子モジュール供給TAM ~$500M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16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H E   A S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Phase -1 シード — 4.6億円 / 12ヶ月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4114800" cy="32004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R A I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Meiryo"/>
              </a:defRPr>
            </a:pPr>
            <a:r>
              <a:t>4.6 億円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EC5"/>
                </a:solidFill>
                <a:latin typeface="Meiryo"/>
              </a:defRPr>
            </a:pPr>
            <a:r>
              <a:t>シード資金で全14タスクを実行し、</a:t>
            </a:r>
            <a:br/>
            <a:r>
              <a:t>Phase 0 移行判定の全データを取得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K E Y   M I L E S T O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062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eiryo"/>
              </a:defRPr>
            </a:pPr>
            <a:r>
              <a:t>G-EXP1 (開始後2ヶ月)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8056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Level A 成功確率 50%超への引き上げ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18288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U S E   O F   F U N D 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228600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0" y="2331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人件費 (11名 × 12ヶ月)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6060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理論2 + 光源2 + CV計算2 + PIC1 + 冷却2 + 制御SW2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2331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212121"/>
                </a:solidFill>
                <a:latin typeface="Meiryo"/>
              </a:defRPr>
            </a:pPr>
            <a:r>
              <a:t>約 2.9 億円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338328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0" y="34290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光学実験装置・部品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703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PPLN OPA, EOM, AWG, ホモダイン検出系, 位相ロック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3429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212121"/>
                </a:solidFill>
                <a:latin typeface="Meiryo"/>
              </a:defRPr>
            </a:pPr>
            <a:r>
              <a:t>約 9,200万円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0" y="448056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0" y="45262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GPU 計算 / 外部委託 / 施設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48006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Stim シミュレーション, GKP実験委託, クリーンブース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45262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212121"/>
                </a:solidFill>
                <a:latin typeface="Meiryo"/>
              </a:defRPr>
            </a:pPr>
            <a:r>
              <a:t>約 8,300万円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CD4"/>
                </a:solidFill>
                <a:latin typeface="Meiryo"/>
              </a:defRPr>
            </a:pPr>
            <a:r>
              <a:t>T H E   F U T U R E   O F   Q U A N T U M   I 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Meiryo"/>
              </a:defRPr>
            </a:pPr>
            <a:r>
              <a:t>デスクトップに来る。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Meiryo"/>
              </a:defRPr>
            </a:pPr>
            <a:r>
              <a:t>室温 109W で動く誤り訂正型量子コンピュータを、世界の研究室・教室・企業 R&amp;D に。</a:t>
            </a:r>
            <a:br/>
            <a:r>
              <a:t>購入初日から7つのモードで価値を届ける。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754880"/>
            <a:ext cx="73152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次 の ス テ ッ 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eiryo"/>
              </a:defRPr>
            </a:pPr>
            <a:r>
              <a:t>技術 DD パッケージ (設計書14本) のレビュー  →  タームシート協議  →  Phase -1 着手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T A R O S  ·  D e s k t o p   P h o t o n i c   Q u a n t u m   C o m p u t e r  ·  v 4 .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