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731520" y="10972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68680" y="731520"/>
            <a:ext cx="9144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6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9202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BCD4"/>
                </a:solidFill>
                <a:latin typeface="Meiryo"/>
              </a:defRPr>
            </a:pPr>
            <a:r>
              <a:t>D e s k t o p   P h o t o n i c   Q u a n t u m   C o m p u t e 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AC アダプタで動く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eiryo"/>
              </a:defRPr>
            </a:pPr>
            <a:r>
              <a:t>デスクトップ誤り訂正型光量子コンピュータ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7-in-1 Quantum Platform  |  完全室温・109W  |  1,350万〜2,550万円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43891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6C6DA"/>
                </a:solidFill>
                <a:latin typeface="Meiryo"/>
              </a:defRPr>
            </a:pPr>
            <a:r>
              <a:t>購入初日から6つの商用モードが稼働 — 量子優位証明を待たずに価値を提供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2179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00BCD4"/>
                </a:solidFill>
                <a:latin typeface="Meiryo"/>
              </a:defRPr>
            </a:pPr>
            <a:r>
              <a:t>I n v e s t o r   P i t c 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0" y="6217920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B0BEC5"/>
                </a:solidFill>
                <a:latin typeface="Meiryo"/>
              </a:defRPr>
            </a:pPr>
            <a:r>
              <a:t>C o n f i d e n t i a l   |   v 4 .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I S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400" b="1">
                <a:solidFill>
                  <a:srgbClr val="212121"/>
                </a:solidFill>
                <a:latin typeface="Meiryo"/>
              </a:defRPr>
            </a:pPr>
            <a:r>
              <a:t>1台で7役。購入初日から価値を届ける。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2179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FTQC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量子化学・量子重力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1792" y="3931920"/>
            <a:ext cx="118872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Phase 0+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2140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12140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9456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9456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9456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組合せ最適化</a:t>
            </a:r>
            <a:br/>
            <a:r>
              <a:t>~2,000スピン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9456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9456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94176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694176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767328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67328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67328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時系列予測</a:t>
            </a:r>
            <a:br/>
            <a:r>
              <a:t>異常検知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767328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266944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266944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40096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0096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40096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量子乱数</a:t>
            </a:r>
            <a:br/>
            <a:r>
              <a:t>~200Mbps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40096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40096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39712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839712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912864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12864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912864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SQL以下</a:t>
            </a:r>
            <a:br/>
            <a:r>
              <a:t>精密測定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12864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912864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412480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8412480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8485632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485632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485632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サブショットノイズ</a:t>
            </a:r>
            <a:br/>
            <a:r>
              <a:t>顕微鏡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485632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485632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49" name="Rectangle 48"/>
          <p:cNvSpPr/>
          <p:nvPr/>
        </p:nvSpPr>
        <p:spPr>
          <a:xfrm>
            <a:off x="9985248" y="2011680"/>
            <a:ext cx="1463040" cy="25603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9985248" y="2011680"/>
            <a:ext cx="146304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058400" y="2148840"/>
            <a:ext cx="1316736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Mode 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058400" y="2377440"/>
            <a:ext cx="1316736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058400" y="2788920"/>
            <a:ext cx="13167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058400" y="3931920"/>
            <a:ext cx="1188720" cy="3200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058400" y="3950208"/>
            <a:ext cx="1188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Meiryo"/>
              </a:defRPr>
            </a:pPr>
            <a:r>
              <a:t>購入即日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8640" y="4846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Mode 2-7は購入初日からSW変更のみで稼働。追加ハードウェアゼロ。全モード共通HW。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48640" y="530352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† 初期SW設定1-2週間を含む。Mode 1(FTQC)はファームウェア更新で段階的に進化。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P R O B L E 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量子コンピュータは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55448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「データセンター専用」で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03120"/>
            <a:ext cx="5029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止まっている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34640"/>
            <a:ext cx="5029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757575"/>
                </a:solidFill>
                <a:latin typeface="Meiryo"/>
              </a:defRPr>
            </a:pPr>
            <a:r>
              <a:t>超伝導・イオン方式は希釈冷凍機 (15mK)</a:t>
            </a:r>
            <a:br/>
            <a:r>
              <a:t>または高真空イオントラップを必須とし、</a:t>
            </a:r>
            <a:br/>
            <a:r>
              <a:t>原理的に小型化が不可能。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 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15mK ~ 4K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508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希釈冷凍機 / He冷凍機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052560" y="109728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9052560" y="109728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9720" y="123443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 費 電 力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189720" y="155448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30~200kW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89720" y="21031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施設の専用配電が必要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21792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サ イ 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部屋規模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既存建屋への設置に改装必要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052560" y="3017520"/>
            <a:ext cx="2651760" cy="17373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052560" y="3017520"/>
            <a:ext cx="2651760" cy="36576"/>
          </a:xfrm>
          <a:prstGeom prst="rect">
            <a:avLst/>
          </a:prstGeom>
          <a:solidFill>
            <a:srgbClr val="EF53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3154679"/>
            <a:ext cx="2377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 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9720" y="347472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4.5~22.5億円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9720" y="4023360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購入は政府・大企業のみ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5303520"/>
            <a:ext cx="10972800" cy="5486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53492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結果: 量子コンピュータを「実機で触れる」研究者は世界で1万人未満。教育・研究のボトルネック。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O U R   S O L U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光だから、室温で動く。光だから、デスクに置ける。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USB-PD 140W給電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7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冷凍機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不要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15399" y="1737360"/>
            <a:ext cx="2606040" cy="14630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052559" y="182880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59" y="20574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00BCD4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52559" y="256032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Pro モデル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48640" y="3474720"/>
            <a:ext cx="530352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31520" y="356616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H O W  —  技 術 ス タ ッ ク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4400" y="399592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PPLN導波路OPA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251959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13dB スクイーズド光 (NTT 12.1dB CW実証)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31520" y="46177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" y="4636007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macronode TDM クラスタ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" y="489204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光ファイバ遅延線で時分割に論理qubitを量産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31520" y="5257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4400" y="5276088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 + 表面符号 (d=3/5/7)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14400" y="5532120"/>
            <a:ext cx="4754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2+ PIC 統合で +1.8dB マージン確保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035040" y="3474720"/>
            <a:ext cx="5486400" cy="2926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17920" y="356616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W H Y   N O W  —  今 、 成 立 す る 理 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217920" y="397763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399592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PPLN導波路の量産化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423367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NTT・住友・nLight 商用ライン稼働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452627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0" y="454456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Soft-info MWPM 閾値確立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 で1.5%確定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507492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0" y="509320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Versal FPGA 27ns フィードフォワード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00800" y="533095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光-電気-光ループが ns級で閉じる時代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5623559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0" y="5641847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CVBQP ⊇ BQP 証明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587959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ITCS 2025: CV量子計算≧標準QC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A Y - 1   V A L U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量子優位を待たない。購入初日から収益化。</a:t>
            </a:r>
          </a:p>
        </p:txBody>
      </p:sp>
      <p:sp>
        <p:nvSpPr>
          <p:cNvPr id="7" name="Chevron 6"/>
          <p:cNvSpPr/>
          <p:nvPr/>
        </p:nvSpPr>
        <p:spPr>
          <a:xfrm>
            <a:off x="548640" y="1737360"/>
            <a:ext cx="3566160" cy="1097280"/>
          </a:xfrm>
          <a:prstGeom prst="chevron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購入・納品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Taros Pro 1,800万円</a:t>
            </a:r>
            <a:br/>
            <a:r>
              <a:t>設置 10分 (AC接続のみ)</a:t>
            </a:r>
          </a:p>
        </p:txBody>
      </p:sp>
      <p:sp>
        <p:nvSpPr>
          <p:cNvPr id="10" name="Chevron 9"/>
          <p:cNvSpPr/>
          <p:nvPr/>
        </p:nvSpPr>
        <p:spPr>
          <a:xfrm>
            <a:off x="4206240" y="1737360"/>
            <a:ext cx="3566160" cy="1097280"/>
          </a:xfrm>
          <a:prstGeom prst="chevron">
            <a:avLst/>
          </a:prstGeom>
          <a:solidFill>
            <a:srgbClr val="E0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212121"/>
                </a:solidFill>
                <a:latin typeface="Meiryo"/>
              </a:defRPr>
            </a:pPr>
            <a:r>
              <a:t>SW設定 (1-2週)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757575"/>
                </a:solidFill>
                <a:latin typeface="Meiryo"/>
              </a:defRPr>
            </a:pPr>
            <a:r>
              <a:t>モード選択・キャリブレーション</a:t>
            </a:r>
            <a:br/>
            <a:r>
              <a:t>追加HW不要</a:t>
            </a:r>
          </a:p>
        </p:txBody>
      </p:sp>
      <p:sp>
        <p:nvSpPr>
          <p:cNvPr id="13" name="Chevron 12"/>
          <p:cNvSpPr/>
          <p:nvPr/>
        </p:nvSpPr>
        <p:spPr>
          <a:xfrm>
            <a:off x="7863840" y="1737360"/>
            <a:ext cx="3566160" cy="1097280"/>
          </a:xfrm>
          <a:prstGeom prst="chevron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1828800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6モード即日稼働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148840"/>
            <a:ext cx="2743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B0BEC5"/>
                </a:solidFill>
                <a:latin typeface="Meiryo"/>
              </a:defRPr>
            </a:pPr>
            <a:r>
              <a:t>FTQC以外の全モードで</a:t>
            </a:r>
            <a:br/>
            <a:r>
              <a:t>商用価値を即時提供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310896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購入初日から稼働する6モードの商用価値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48640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CIM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組合せ最適化 ~2,000スピン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車両ルーティング・スケジューリング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競合$5K-50K内蔵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9767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29767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055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399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量子リザーバ計算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8055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時系列予測・異常検知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8055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14bit soft-info 高精度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46719" y="352044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46719" y="352044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599" y="35661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QRNG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35440" y="358444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量子乱数 ~200Mbps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599" y="386791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真空ゆらぎホモダイン測定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599" y="408736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認証済み QR 生成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48640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48640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31520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Sensing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73736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SQL以下 精密測定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スクイーズド光センシング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1520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研究・計測用途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29767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29767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Imaging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399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サブショットノイズ顕微鏡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48055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量子強化イメージング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48055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バイオ・材料科学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046719" y="4709160"/>
            <a:ext cx="3566160" cy="100584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46719" y="4709160"/>
            <a:ext cx="54864" cy="100584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229599" y="47548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6BB6A"/>
                </a:solidFill>
                <a:latin typeface="Meiryo"/>
              </a:defRPr>
            </a:pPr>
            <a:r>
              <a:t>Tensor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235440" y="4773168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AI推論加速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29599" y="5056632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フォトニック行列演算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29599" y="5276088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推論コスト削減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48640" y="6035040"/>
            <a:ext cx="10972800" cy="4572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31520" y="6053328"/>
            <a:ext cx="106070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00BCD4"/>
                </a:solidFill>
                <a:latin typeface="Meiryo"/>
              </a:defRPr>
            </a:pPr>
            <a:r>
              <a:t>FTQC完成前からMode 2-7で顧客価値を提供 → 量子コンピュータ初の「Day-1 Revenue」モデル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E C H N I C A L   E D G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性能の根拠 — 数字は文献と独立計算で裏付け済み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13dB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</a:t>
            </a:r>
            <a:br/>
            <a:r>
              <a:t>生成スクイージング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331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51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43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L=0.27dB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全劣化 (BSモデル)</a:t>
            </a:r>
            <a:br/>
            <a:r>
              <a:t>PIC統合・GAWBS・QE込み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9.3dB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実効 σ_eff</a:t>
            </a:r>
            <a:br/>
            <a:r>
              <a:t>BS モデル (現実Δ=0.12)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03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23760" y="1828800"/>
            <a:ext cx="2103120" cy="164592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~4.9×10⁻³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p_phys</a:t>
            </a:r>
            <a:br/>
            <a:r>
              <a:t>物理エラー率 (erfc)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89720" y="219456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BCD4"/>
                </a:solidFill>
                <a:latin typeface="Meiryo"/>
              </a:defRPr>
            </a:pPr>
            <a: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509760" y="1828800"/>
            <a:ext cx="2103120" cy="16459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1920240"/>
            <a:ext cx="1920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~3.3×10⁻⁴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2423160"/>
            <a:ext cx="19202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FFFFFF"/>
                </a:solidFill>
                <a:latin typeface="Meiryo"/>
              </a:defRPr>
            </a:pPr>
            <a:r>
              <a:t>p_L (d=7, MWPM)</a:t>
            </a:r>
            <a:br/>
            <a:r>
              <a:t>製品要件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8404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閾値マージン — Phase 2+ PIC 統合での量子誤り訂正成立余裕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4297680"/>
            <a:ext cx="8686800" cy="41148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15968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実効 σ_eff (Phase 2+ PIC現実)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31596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9.3 dB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800600"/>
            <a:ext cx="6583680" cy="41148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31520" y="481888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Meiryo"/>
              </a:defRPr>
            </a:pPr>
            <a:r>
              <a:t>閾値 (postselection)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217920" y="4818888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200" b="1">
                <a:solidFill>
                  <a:srgbClr val="FFFFFF"/>
                </a:solidFill>
                <a:latin typeface="Meiryo"/>
              </a:defRPr>
            </a:pPr>
            <a:r>
              <a:t>7.5 dB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53492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Phase 2+ PIC 余裕 +1.8dB — 製品要件 p_L ≈ 3.3×10⁻⁴ を達成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7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D E C I S I V E   A D V A N T A G E 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CV方式の3つの決定的優位性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8105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280160" y="17373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63040" y="18288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14bit soft-info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22402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全競合方式はbinaryシンドローム。CV方式は14bitアナログ情報をデコーダに供給。</a:t>
            </a:r>
            <a:br/>
            <a:r>
              <a:t>閾値1.5%はsoft-infoで達成。同一物理エラー率で論理エラー率を桁違いに低減。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3375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34107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80160" y="33375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34290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qumode = 無限次元ヒルベルト空間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38404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ボソニック場理論をネイティブにシミュレーション。格子ゲージ理論、Bose-Hubbard、分子振動。CVBQP ⊇ BQP 証明済み (ITCS 2025)。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937760"/>
            <a:ext cx="548640" cy="5486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8640" y="5010912"/>
            <a:ext cx="548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Meiryo"/>
              </a:defRPr>
            </a:pPr>
            <a:r>
              <a:t>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280160" y="4937760"/>
            <a:ext cx="1024128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63040" y="502920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7-in-1 プラットフォーム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5440680"/>
            <a:ext cx="9875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57575"/>
                </a:solidFill>
                <a:latin typeface="Meiryo"/>
              </a:defRPr>
            </a:pPr>
            <a:r>
              <a:t>同一HWで7動作モード。量子優位証明前から6モードで商用価値を提供。競合方式では実現不可能な多用途性。投資リスクを本質的に低減。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8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 R O D U C T   L I N 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単一プラットフォームで 3 製品 — d=3/5/7 スケーリング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Edu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1,350万円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0312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~4.3kg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10312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~104W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0312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1-10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~10⁻² (MWPM)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教育・QEC研究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5195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34840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34840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solidFill>
            <a:srgbClr val="FF98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29400" y="1828800"/>
            <a:ext cx="960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FLAGSHIP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34840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806440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~7.5kg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34840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06440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~109W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34840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806440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10-100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806440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~10⁻³ (MWPM)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434840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34840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研究・VQE / QAOA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955279" y="1737360"/>
            <a:ext cx="352044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0E0E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8159" y="18288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12121"/>
                </a:solidFill>
                <a:latin typeface="Meiryo"/>
              </a:defRPr>
            </a:pPr>
            <a:r>
              <a:t>Taros Max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138159" y="2148840"/>
            <a:ext cx="2286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00BCD4"/>
                </a:solidFill>
                <a:latin typeface="Meiryo"/>
              </a:defRPr>
            </a:pPr>
            <a:r>
              <a:t>d = 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138159" y="2468880"/>
            <a:ext cx="3154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2,550万円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59" y="301752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重量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509759" y="301752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~9.7kg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138159" y="338327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59" y="338327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~112W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59" y="3749039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論理 qubit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509759" y="3749039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10-1,000+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138159" y="4114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509759" y="4114800"/>
            <a:ext cx="1783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212121"/>
                </a:solidFill>
                <a:latin typeface="Meiryo"/>
              </a:defRPr>
            </a:pPr>
            <a:r>
              <a:t>~3.3×10⁻⁴ (MWPM)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138159" y="4754880"/>
            <a:ext cx="3154680" cy="9144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138159" y="4846320"/>
            <a:ext cx="3154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FTQC・量子化学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5943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57575"/>
                </a:solidFill>
                <a:latin typeface="Meiryo"/>
              </a:defRPr>
            </a:pPr>
            <a:r>
              <a:t>単一光学プラットフォーム + PMF遅延線の長さ調整のみで3製品を展開 → 量産設計コスト 1/3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9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M A R K E T   &amp;   C O M P E T I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「量子コンピュータの Raspberry Pi」— ブルーオーシャン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製品</a:t>
            </a:r>
          </a:p>
        </p:txBody>
      </p:sp>
      <p:sp>
        <p:nvSpPr>
          <p:cNvPr id="9" name="Rectangle 8"/>
          <p:cNvSpPr/>
          <p:nvPr/>
        </p:nvSpPr>
        <p:spPr>
          <a:xfrm>
            <a:off x="23774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4505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方式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062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793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サイズ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0350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081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消費電力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冷却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92640" y="1691640"/>
            <a:ext cx="1783080" cy="3200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765792" y="170992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価格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IBM QS Two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774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4505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超伝導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2062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2793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部屋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0350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081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200kW+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8638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9369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15mK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92640" y="2057400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765792" y="2075688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22.5億円+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48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21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IonQ Forte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3774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4505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イオン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2062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793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ラック×3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0350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1081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30kW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8638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369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高真空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92640" y="2404872"/>
            <a:ext cx="1783080" cy="32918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765792" y="242316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4.5億円+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48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21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Xanadu Aurora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774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4505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フォトニック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2062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2793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ラック多数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0350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081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100kW+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638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9369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4K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92640" y="2752344"/>
            <a:ext cx="1783080" cy="329184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65792" y="2770632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12121"/>
                </a:solidFill>
                <a:latin typeface="Meiryo"/>
              </a:defRPr>
            </a:pPr>
            <a:r>
              <a:t>15億円+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48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Taros Pro</a:t>
            </a:r>
          </a:p>
        </p:txBody>
      </p:sp>
      <p:sp>
        <p:nvSpPr>
          <p:cNvPr id="57" name="Rectangle 56"/>
          <p:cNvSpPr/>
          <p:nvPr/>
        </p:nvSpPr>
        <p:spPr>
          <a:xfrm>
            <a:off x="23774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24505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CV 光子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2062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2793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7.5kg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0350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1081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109W</a:t>
            </a:r>
          </a:p>
        </p:txBody>
      </p:sp>
      <p:sp>
        <p:nvSpPr>
          <p:cNvPr id="63" name="Rectangle 62"/>
          <p:cNvSpPr/>
          <p:nvPr/>
        </p:nvSpPr>
        <p:spPr>
          <a:xfrm>
            <a:off x="78638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369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完全室温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92640" y="3099816"/>
            <a:ext cx="1783080" cy="329184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765792" y="3118104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1,800万円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48640" y="36118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市場規模 — TAM / SAM / SOM</a:t>
            </a:r>
          </a:p>
        </p:txBody>
      </p:sp>
      <p:sp>
        <p:nvSpPr>
          <p:cNvPr id="68" name="Oval 67"/>
          <p:cNvSpPr/>
          <p:nvPr/>
        </p:nvSpPr>
        <p:spPr>
          <a:xfrm>
            <a:off x="4023360" y="3840480"/>
            <a:ext cx="3657600" cy="2743200"/>
          </a:xfrm>
          <a:prstGeom prst="ellipse">
            <a:avLst/>
          </a:prstGeom>
          <a:solidFill>
            <a:srgbClr val="E0F7FA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114800" y="402336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T A M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114800" y="425196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1,250機関 · 225億円</a:t>
            </a:r>
          </a:p>
        </p:txBody>
      </p:sp>
      <p:sp>
        <p:nvSpPr>
          <p:cNvPr id="71" name="Oval 70"/>
          <p:cNvSpPr/>
          <p:nvPr/>
        </p:nvSpPr>
        <p:spPr>
          <a:xfrm>
            <a:off x="4663440" y="4297680"/>
            <a:ext cx="2377440" cy="1828800"/>
          </a:xfrm>
          <a:prstGeom prst="ellipse">
            <a:avLst/>
          </a:prstGeom>
          <a:solidFill>
            <a:srgbClr val="B2EBF2"/>
          </a:solidFill>
          <a:ln w="12700">
            <a:solidFill>
              <a:srgbClr val="00BC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492240" y="434340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0BCD4"/>
                </a:solidFill>
                <a:latin typeface="Meiryo"/>
              </a:defRPr>
            </a:pPr>
            <a:r>
              <a:t>S A 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492240" y="457200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12121"/>
                </a:solidFill>
                <a:latin typeface="Meiryo"/>
              </a:defRPr>
            </a:pPr>
            <a:r>
              <a:t>650機関 · 117億円</a:t>
            </a:r>
          </a:p>
        </p:txBody>
      </p:sp>
      <p:sp>
        <p:nvSpPr>
          <p:cNvPr id="74" name="Oval 73"/>
          <p:cNvSpPr/>
          <p:nvPr/>
        </p:nvSpPr>
        <p:spPr>
          <a:xfrm>
            <a:off x="5166360" y="4709160"/>
            <a:ext cx="1371600" cy="100584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212080" y="48463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Meiryo"/>
              </a:defRPr>
            </a:pPr>
            <a:r>
              <a:t>SOM Y3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12080" y="5074920"/>
            <a:ext cx="12801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100機関 · 18億円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10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V A L I D A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机上の数字ではない — 既に独立検証済み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31520" y="192024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3852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10" name="Rectangle 9"/>
          <p:cNvSpPr/>
          <p:nvPr/>
        </p:nvSpPr>
        <p:spPr>
          <a:xfrm>
            <a:off x="1371600" y="192024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0" y="193852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100M shots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83280" y="18288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Stim 量子シミュレーション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383280" y="214884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p_err sweep (10⁻⁴~10⁻²), d=3/5/7 全論理エラー率予測を約1億ショットで再現。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0" y="201167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278892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31520" y="297180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2990088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371600" y="297180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0" y="2990088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9件 文献照合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8803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公開文献との独立照合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320040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Noh-Chamberland 2022, Stafford-Menicucci 2025 など9件の査読済論文と数値突合。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306323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48640" y="3840479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31520" y="4023359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520" y="404164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71600" y="4023359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71600" y="404164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156q 実機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83280" y="393191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IBM Quantum 実機検証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383280" y="4251959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ibm_fez (156 qubit) 上でデコーダ計算量・サイクル時間を実測。FPGA設計値と整合。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0" y="411479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48640" y="4892040"/>
            <a:ext cx="10972800" cy="9144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31520" y="5074920"/>
            <a:ext cx="457200" cy="45720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31520" y="5093207"/>
            <a:ext cx="457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Meiryo"/>
              </a:defRPr>
            </a:pPr>
            <a:r>
              <a:t>✓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71600" y="5074920"/>
            <a:ext cx="1828800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371600" y="5093207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Meiryo"/>
              </a:defRPr>
            </a:pPr>
            <a:r>
              <a:t>13項目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383280" y="4983479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ノイズバジェット (BSモデル)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83280" y="5303520"/>
            <a:ext cx="5029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GAWBS, EO消光比, AWG, PIC統合損失など全項目をBSモデルで個別計上。隠れた損失なし。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686800" y="5166359"/>
            <a:ext cx="2560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Meiryo"/>
              </a:defRPr>
            </a:pPr>
            <a:r>
              <a:t>完了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48640" y="603504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212121"/>
                </a:solidFill>
                <a:latin typeface="Meiryo"/>
              </a:defRPr>
            </a:pPr>
            <a:r>
              <a:t>→ 設計書 14本 公開 — 完全な技術デューデリジェンス対応済み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11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O A D M A 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段階的検証 → プロトタイプ → 量産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743200"/>
            <a:ext cx="10972800" cy="36576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64591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645920"/>
            <a:ext cx="2606040" cy="22860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8580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-1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原理検証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00BCD4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337560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4720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Edu試作 / Break-even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4720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1.8億円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5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79" y="16459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17373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19659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12-18ヶ月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63640" y="224028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Pro 製品化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27432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1.5億円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12679" y="2606040"/>
            <a:ext cx="320040" cy="32004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399" y="3017520"/>
            <a:ext cx="2606040" cy="22860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59" y="3108960"/>
            <a:ext cx="23317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Phase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59" y="333756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6-12ヶ月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59" y="3611879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212121"/>
                </a:solidFill>
                <a:latin typeface="Meiryo"/>
              </a:defRPr>
            </a:pPr>
            <a:r>
              <a:t>量産 (100台/年)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52559" y="411480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212121"/>
                </a:solidFill>
                <a:latin typeface="Meiryo"/>
              </a:defRPr>
            </a:pPr>
            <a:r>
              <a:t>7,500万円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48640" y="5577840"/>
            <a:ext cx="10972800" cy="6400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5623560"/>
            <a:ext cx="106070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最重要マイルストーン: G-EXP1 (開始後2ヶ月) — 約800万円で Level A 成功確率を 25-35% → 50%超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12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R I S K   A S S E S S M E N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212121"/>
                </a:solidFill>
                <a:latin typeface="Meiryo"/>
              </a:defRPr>
            </a:pPr>
            <a:r>
              <a:t>リスクは透明に開示。レッドチーム評価を経た保守的見積り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82880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90195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OPA 13dB パルス未実証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NTT 12.1dB CW は実証済 → SiN clad 改良で 0.9dB ギャップ。Phase -1 で検証。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3464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83464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0779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MWPM / Soft-info 製品化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20040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Phase 0/1 は UF 350ns で実証 → Phase 2+ PIC で MWPM 510ns へ移行。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840480"/>
            <a:ext cx="6583680" cy="868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3840480"/>
            <a:ext cx="54864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3913632"/>
            <a:ext cx="6217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G-EXP1 結果未取得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206240"/>
            <a:ext cx="6217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約800万円 で Phase -1 開始後2ヶ月に実施。失敗時は DV-FBQC へフォールバック。</a:t>
            </a:r>
          </a:p>
        </p:txBody>
      </p:sp>
      <p:sp>
        <p:nvSpPr>
          <p:cNvPr id="19" name="Oval 18"/>
          <p:cNvSpPr/>
          <p:nvPr/>
        </p:nvSpPr>
        <p:spPr>
          <a:xfrm>
            <a:off x="7863840" y="1737360"/>
            <a:ext cx="2926080" cy="2926080"/>
          </a:xfrm>
          <a:prstGeom prst="ellipse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503919" y="2377440"/>
            <a:ext cx="1645920" cy="16459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9640" y="265176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66BB6A"/>
                </a:solidFill>
                <a:latin typeface="Meiryo"/>
              </a:defRPr>
            </a:pPr>
            <a:r>
              <a:t>81-90%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9640" y="30632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Level B以上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3291840"/>
            <a:ext cx="1554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FTQC実現確率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98079" y="1737360"/>
            <a:ext cx="3840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212121"/>
                </a:solidFill>
                <a:latin typeface="Meiryo"/>
              </a:defRPr>
            </a:pPr>
            <a:r>
              <a:t>フォールバック完備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89520" y="4846320"/>
            <a:ext cx="3657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212121"/>
                </a:solidFill>
                <a:latin typeface="Meiryo"/>
              </a:defRPr>
            </a:pPr>
            <a:r>
              <a:t>CV pure 81% / CV+QD 90%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589520" y="512064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CV不成立時は DV-FBQC 方式 (28kg / 2.1kW / 約6,480万円)</a:t>
            </a:r>
            <a:br/>
            <a:r>
              <a:t>にフォールバック — 投資リスクを限定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13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C A P I T A L   E F F I C I E N C 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段階的に検証、最小資本で世界初へ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2560320"/>
            <a:ext cx="260604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26974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75万円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632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2週間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2918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原理判定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103120"/>
            <a:ext cx="2606040" cy="15544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74720" y="22402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800万円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4720" y="26060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2ヶ月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8346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GKP光学実証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31089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装置直接費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26479" y="1645919"/>
            <a:ext cx="2606040" cy="20116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63640" y="1783079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212121"/>
                </a:solidFill>
                <a:latin typeface="Meiryo"/>
              </a:defRPr>
            </a:pPr>
            <a:r>
              <a:t>2,900万円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2148839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5ヶ月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2377439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212121"/>
                </a:solidFill>
                <a:latin typeface="Meiryo"/>
              </a:defRPr>
            </a:pPr>
            <a:r>
              <a:t>完全コスト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65176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人件費込み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15399" y="1097280"/>
            <a:ext cx="2606040" cy="25603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052559" y="1234440"/>
            <a:ext cx="2331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Meiryo"/>
              </a:defRPr>
            </a:pPr>
            <a:r>
              <a:t>4.6億円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59" y="1600200"/>
            <a:ext cx="2331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12ヶ月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59" y="182880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Meiryo"/>
              </a:defRPr>
            </a:pPr>
            <a:r>
              <a:t>QEC Break-even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59" y="2103120"/>
            <a:ext cx="2331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B0BEC5"/>
                </a:solidFill>
                <a:latin typeface="Meiryo"/>
              </a:defRPr>
            </a:pPr>
            <a:r>
              <a:t>世界初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393192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212121"/>
                </a:solidFill>
                <a:latin typeface="Meiryo"/>
              </a:defRPr>
            </a:pPr>
            <a:r>
              <a:t>競合の累計調達額 — 桁違いの資本効率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86000" y="4389120"/>
            <a:ext cx="685800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PsiQuantum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40740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約1,050億円超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86000" y="4892040"/>
            <a:ext cx="585216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IonQ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4910327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約900億円超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286000" y="5394960"/>
            <a:ext cx="2468880" cy="36576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486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12121"/>
                </a:solidFill>
                <a:latin typeface="Meiryo"/>
              </a:defRPr>
            </a:pPr>
            <a:r>
              <a:t>Xanadu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892040" y="541324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12121"/>
                </a:solidFill>
                <a:latin typeface="Meiryo"/>
              </a:defRPr>
            </a:pPr>
            <a:r>
              <a:t>約375億円超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286000" y="5897880"/>
            <a:ext cx="365760" cy="36576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Taros (計画)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88920" y="5916168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約8.7億円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14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F I N A N C I A L   P R O J E C T I O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黒字化から36億円 ARR を視野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737360"/>
            <a:ext cx="3200400" cy="137160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73736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黒字化タイミング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12121"/>
                </a:solidFill>
                <a:latin typeface="Meiryo"/>
              </a:defRPr>
            </a:pPr>
            <a:r>
              <a:t>Phase 2完了後</a:t>
            </a:r>
            <a:br/>
            <a:r>
              <a:t>1〜2年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291840"/>
            <a:ext cx="3200400" cy="1097280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3291840"/>
            <a:ext cx="32004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38328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57575"/>
                </a:solidFill>
                <a:latin typeface="Meiryo"/>
              </a:defRPr>
            </a:pPr>
            <a:r>
              <a:t>粗利率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61188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212121"/>
                </a:solidFill>
                <a:latin typeface="Meiryo"/>
              </a:defRPr>
            </a:pPr>
            <a:r>
              <a:t>~32.5%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03120" y="37033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規模効果で逓増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169164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0BCD4"/>
                </a:solidFill>
                <a:latin typeface="Meiryo"/>
              </a:defRPr>
            </a:pPr>
            <a:r>
              <a:t>A R R   成 長 予 測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389120" y="4709160"/>
            <a:ext cx="1463040" cy="32004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480060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3.6億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26480" y="4229100"/>
            <a:ext cx="1463040" cy="800100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26480" y="43205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212121"/>
                </a:solidFill>
                <a:latin typeface="Meiryo"/>
              </a:defRPr>
            </a:pPr>
            <a:r>
              <a:t>9億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2648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2648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50台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863840" y="3429000"/>
            <a:ext cx="1463040" cy="1600200"/>
          </a:xfrm>
          <a:prstGeom prst="rect">
            <a:avLst/>
          </a:prstGeom>
          <a:solidFill>
            <a:srgbClr val="26C6D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863840" y="35204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18億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100台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1828800"/>
            <a:ext cx="1463040" cy="32004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1920240"/>
            <a:ext cx="1463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Meiryo"/>
              </a:defRPr>
            </a:pPr>
            <a:r>
              <a:t>36億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0" y="5074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212121"/>
                </a:solidFill>
                <a:latin typeface="Meiryo"/>
              </a:defRPr>
            </a:pPr>
            <a:r>
              <a:t>Y4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5303520"/>
            <a:ext cx="1463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757575"/>
                </a:solidFill>
                <a:latin typeface="Meiryo"/>
              </a:defRPr>
            </a:pPr>
            <a:r>
              <a:t>200台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48640" y="5669280"/>
            <a:ext cx="10972800" cy="54864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71500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1">
                <a:solidFill>
                  <a:srgbClr val="00BCD4"/>
                </a:solidFill>
                <a:latin typeface="Meiryo"/>
              </a:defRPr>
            </a:pPr>
            <a:r>
              <a:t>投資論理: 失敗時上限 4.6億円 (Phase -1)、成功時 ARR 36億円 (Y4) — リスク調整後リターン ~3.5倍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15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2 0 3 0   M O O N S H O 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FFFFFF"/>
                </a:solidFill>
                <a:latin typeface="Meiryo"/>
              </a:defRPr>
            </a:pPr>
            <a:r>
              <a:t>Taros が拓く4つの未来産業</a:t>
            </a:r>
          </a:p>
        </p:txBody>
      </p:sp>
      <p:sp>
        <p:nvSpPr>
          <p:cNvPr id="7" name="Oval 6"/>
          <p:cNvSpPr/>
          <p:nvPr/>
        </p:nvSpPr>
        <p:spPr>
          <a:xfrm>
            <a:off x="4709160" y="3200400"/>
            <a:ext cx="1828800" cy="914400"/>
          </a:xfrm>
          <a:prstGeom prst="ellipse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800600" y="338328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Meiryo"/>
              </a:defRPr>
            </a:pPr>
            <a:r>
              <a:t>Taros</a:t>
            </a:r>
            <a:br/>
            <a:r>
              <a:t>7-in-1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0" y="310896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0" y="4206240"/>
            <a:ext cx="1371600" cy="27432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164592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164592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178308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量子脳 — NeuroQ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14884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FitzHugh-Nagumo神経モデル→Schrödinger変換</a:t>
            </a:r>
            <a:br/>
            <a:r>
              <a:t>→ CV量子で神経回路を直接シミュレーション</a:t>
            </a:r>
            <a:br/>
            <a:r>
              <a:t>Phase 1: C.elegans 302ニューロン (600 qumode)</a:t>
            </a:r>
            <a:br/>
            <a:r>
              <a:t>Phase 2+: ショウジョウバエ 127,400ニューロン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32320" y="164592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132320" y="164592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69480" y="178308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量子シミュレーション — 万物の設計者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69480" y="214884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創薬: P450精度 71%→94% / PETase 87×活性</a:t>
            </a:r>
            <a:br/>
            <a:r>
              <a:t>不老長寿: プロトントンネリング(DNA変異4×)</a:t>
            </a:r>
            <a:br/>
            <a:r>
              <a:t>マテリアル / 仮想生物 / Bose-Hubbard</a:t>
            </a:r>
            <a:br/>
            <a:r>
              <a:t>宇宙: 光子m=0 → 量子重力デコヒーレンス免疫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572000"/>
            <a:ext cx="411480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48640" y="4572000"/>
            <a:ext cx="41148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" y="47091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量子ホログラム — QGH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074920"/>
            <a:ext cx="3840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QFT: O(N×d³)→O(d³) 10⁶×高速化</a:t>
            </a:r>
            <a:br/>
            <a:r>
              <a:t>GKPフーリエ構造 = ホログラム構造</a:t>
            </a:r>
            <a:br/>
            <a:r>
              <a:t>医療: 分子→細胞→臓器の量子3D可視化</a:t>
            </a:r>
            <a:br/>
            <a:r>
              <a:t>エンタメ: 空間没入ホログラムフェス / 6G対応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132320" y="4572000"/>
            <a:ext cx="4480560" cy="1554480"/>
          </a:xfrm>
          <a:prstGeom prst="rect">
            <a:avLst/>
          </a:prstGeom>
          <a:solidFill>
            <a:srgbClr val="2632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132320" y="4572000"/>
            <a:ext cx="448056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69480" y="470916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Meiryo"/>
              </a:defRPr>
            </a:pPr>
            <a:r>
              <a:t>ヒューマノイドロボット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269480" y="5074920"/>
            <a:ext cx="42062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B0BEC5"/>
                </a:solidFill>
                <a:latin typeface="Meiryo"/>
              </a:defRPr>
            </a:pPr>
            <a:r>
              <a:t>CIM経路最適化で50ms制御壁を突破</a:t>
            </a:r>
            <a:br/>
            <a:r>
              <a:t>スクイーズド光でSQL超え力覚フィードバック</a:t>
            </a:r>
            <a:br/>
            <a:r>
              <a:t>NeuroQ量子脳→ロボット運動制御を直接駆動</a:t>
            </a:r>
            <a:br/>
            <a:r>
              <a:t>ロボット市場 $20B→$130B / モジュールTAM $500M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74320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A R O S</a:t>
            </a:r>
          </a:p>
        </p:txBody>
      </p:sp>
      <p:sp>
        <p:nvSpPr>
          <p:cNvPr id="3" name="Rectangle 2"/>
          <p:cNvSpPr/>
          <p:nvPr/>
        </p:nvSpPr>
        <p:spPr>
          <a:xfrm>
            <a:off x="1645920" y="438912"/>
            <a:ext cx="45720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0" y="2743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757575"/>
                </a:solidFill>
                <a:latin typeface="Meiryo"/>
              </a:defRPr>
            </a:pPr>
            <a:r>
              <a:t>16 / 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40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0BCD4"/>
                </a:solidFill>
                <a:latin typeface="Meiryo"/>
              </a:defRPr>
            </a:pPr>
            <a:r>
              <a:t>T H E   A S 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212121"/>
                </a:solidFill>
                <a:latin typeface="Meiryo"/>
              </a:defRPr>
            </a:pPr>
            <a:r>
              <a:t>Phase -1 シード — 4.6億円 / 12ヶ月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828800"/>
            <a:ext cx="4114800" cy="3200400"/>
          </a:xfrm>
          <a:prstGeom prst="rect">
            <a:avLst/>
          </a:prstGeom>
          <a:solidFill>
            <a:srgbClr val="1A23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920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R A I S 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74903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800" b="1">
                <a:solidFill>
                  <a:srgbClr val="FFFFFF"/>
                </a:solidFill>
                <a:latin typeface="Meiryo"/>
              </a:defRPr>
            </a:pPr>
            <a:r>
              <a:t>4.6 億円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08960"/>
            <a:ext cx="374903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B0BEC5"/>
                </a:solidFill>
                <a:latin typeface="Meiryo"/>
              </a:defRPr>
            </a:pPr>
            <a:r>
              <a:t>シード資金で全14タスクを実行し、</a:t>
            </a:r>
            <a:br/>
            <a:r>
              <a:t>Phase 0 移行判定の全データを取得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93192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K E Y   M I L E S T O N 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20624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Meiryo"/>
              </a:defRPr>
            </a:pPr>
            <a:r>
              <a:t>G-EXP1 (開始後2ヶ月)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480560"/>
            <a:ext cx="374903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Level A 成功確率 50%超への引き上げ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1828800"/>
            <a:ext cx="6400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U S E   O F   F U N D 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0" y="2194560"/>
            <a:ext cx="4032504" cy="4572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212848"/>
            <a:ext cx="3200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Meiryo"/>
              </a:defRPr>
            </a:pPr>
            <a:r>
              <a:t>人件費 63%  約2.9億円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61704" y="2194560"/>
            <a:ext cx="1280160" cy="45720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07424" y="2212848"/>
            <a:ext cx="1188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装置 20%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341863" y="2194560"/>
            <a:ext cx="1088136" cy="45720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387584" y="2212848"/>
            <a:ext cx="1005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Meiryo"/>
              </a:defRPr>
            </a:pPr>
            <a:r>
              <a:t>他 17%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0" y="2926080"/>
            <a:ext cx="54864" cy="73152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12080" y="29718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人件費 (11名 × 12ヶ月)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12080" y="32461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理論2 + 光源2 + CV計算2 + PIC1 + 冷却2 + 制御SW2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0" y="29718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2.9 億円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0" y="3840480"/>
            <a:ext cx="54864" cy="731520"/>
          </a:xfrm>
          <a:prstGeom prst="rect">
            <a:avLst/>
          </a:prstGeom>
          <a:solidFill>
            <a:srgbClr val="7E57C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212080" y="38862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光学実験装置・部品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1605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PPLN OPA, EOM, AWG, ホモダイン検出系, 位相ロック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38862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9,200万円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0" y="4754880"/>
            <a:ext cx="54864" cy="731520"/>
          </a:xfrm>
          <a:prstGeom prst="rect">
            <a:avLst/>
          </a:prstGeom>
          <a:solidFill>
            <a:srgbClr val="66BB6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212080" y="4800600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212121"/>
                </a:solidFill>
                <a:latin typeface="Meiryo"/>
              </a:defRPr>
            </a:pPr>
            <a:r>
              <a:t>GPU 計算 / 外部委託 / 施設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212080" y="5074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757575"/>
                </a:solidFill>
                <a:latin typeface="Meiryo"/>
              </a:defRPr>
            </a:pPr>
            <a:r>
              <a:t>Stim シミュレーション, GKP実験委託, クリーンブース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601200" y="480060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500" b="1">
                <a:solidFill>
                  <a:srgbClr val="212121"/>
                </a:solidFill>
                <a:latin typeface="Meiryo"/>
              </a:defRPr>
            </a:pPr>
            <a:r>
              <a:t>約 8,300万円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2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0BCD4"/>
                </a:solidFill>
                <a:latin typeface="Meiryo"/>
              </a:defRPr>
            </a:pPr>
            <a:r>
              <a:t>T H E   F U T U R E   O F   Q U A N T U M   I 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011680"/>
            <a:ext cx="10058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200" b="1">
                <a:solidFill>
                  <a:srgbClr val="FFFFFF"/>
                </a:solidFill>
                <a:latin typeface="Meiryo"/>
              </a:defRPr>
            </a:pPr>
            <a:r>
              <a:t>デスクトップに来る。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84048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B0BEC5"/>
                </a:solidFill>
                <a:latin typeface="Meiryo"/>
              </a:defRPr>
            </a:pPr>
            <a:r>
              <a:t>室温 109W で動く誤り訂正型量子コンピュータを、世界の研究室・教室・企業 R&amp;D に。</a:t>
            </a:r>
            <a:br/>
            <a:r>
              <a:t>購入初日から6つのモードで価値を届ける。FTQCはFW更新で段階的に進化。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4754880"/>
            <a:ext cx="731520" cy="50800"/>
          </a:xfrm>
          <a:prstGeom prst="rect">
            <a:avLst/>
          </a:prstGeom>
          <a:solidFill>
            <a:srgbClr val="00BCD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93776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0BCD4"/>
                </a:solidFill>
                <a:latin typeface="Meiryo"/>
              </a:defRPr>
            </a:pPr>
            <a:r>
              <a:t>次 の ス テ ッ 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2120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FFFFF"/>
                </a:solidFill>
                <a:latin typeface="Meiryo"/>
              </a:defRPr>
            </a:pPr>
            <a:r>
              <a:t>技術 DD パッケージ (設計書14本) のレビュー  →  タームシート協議  →  Phase -1 着手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217920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B0BEC5"/>
                </a:solidFill>
                <a:latin typeface="Meiryo"/>
              </a:defRPr>
            </a:pPr>
            <a:r>
              <a:t>T A R O S  ·  D e s k t o p   P h o t o n i c   Q u a n t u m   C o m p u t e r  ·  v 4 .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