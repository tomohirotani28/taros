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Meiryo"/>
              </a:defRPr>
            </a:pPr>
            <a:r>
              <a:t>TAROS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CD4"/>
                </a:solidFill>
                <a:latin typeface="Meiryo"/>
              </a:defRPr>
            </a:pPr>
            <a:r>
              <a:t>D e s k t o p   P h o t o n i c   Q u a n t u m   C o m p u t 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AC アダプタで動く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デスクトップ誤り訂正型光量子コンピュータ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eiryo"/>
              </a:defRPr>
            </a:pPr>
            <a:r>
              <a:t>7-in-1 Quantum Platform  |  完全室温・109W  |  1,350万〜2,550万円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6C6DA"/>
                </a:solidFill>
                <a:latin typeface="Meiryo"/>
              </a:defRPr>
            </a:pPr>
            <a:r>
              <a:t>購入初日から6つの商用モードが稼働 — 量子優位証明を待たずに価値を提供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CD4"/>
                </a:solidFill>
                <a:latin typeface="Meiryo"/>
              </a:defRPr>
            </a:pPr>
            <a:r>
              <a:t>I n v e s t o r   P i t c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Meiryo"/>
              </a:defRPr>
            </a:pPr>
            <a:r>
              <a:t>C o n f i d e n t i a l   |   v 4 .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V I S I O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12121"/>
                </a:solidFill>
                <a:latin typeface="Meiryo"/>
              </a:defRPr>
            </a:pPr>
            <a:r>
              <a:t>1台で7役。購入初日から価値を届ける。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463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46304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48840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Mode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77440"/>
            <a:ext cx="1316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FTQC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889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量子化学・量子重力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931920"/>
            <a:ext cx="1188720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Phase 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2011680"/>
            <a:ext cx="1463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1408" y="2011680"/>
            <a:ext cx="146304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148840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Mode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377440"/>
            <a:ext cx="1316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CIM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7889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組合せ最適化</a:t>
            </a:r>
            <a:br/>
            <a:r>
              <a:t>~2,000スピン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931920"/>
            <a:ext cx="1188720" cy="3200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購入即日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94176" y="2011680"/>
            <a:ext cx="1463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94176" y="2011680"/>
            <a:ext cx="146304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2148840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Mode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377440"/>
            <a:ext cx="1316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QRC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27889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時系列予測</a:t>
            </a:r>
            <a:br/>
            <a:r>
              <a:t>異常検知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3931920"/>
            <a:ext cx="1188720" cy="3200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購入即日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66944" y="2011680"/>
            <a:ext cx="1463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66944" y="2011680"/>
            <a:ext cx="146304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0096" y="2148840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Mode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2377440"/>
            <a:ext cx="1316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QRNG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0096" y="27889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量子乱数</a:t>
            </a:r>
            <a:br/>
            <a:r>
              <a:t>~200Mbps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0096" y="3931920"/>
            <a:ext cx="1188720" cy="3200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0096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購入即日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39712" y="2011680"/>
            <a:ext cx="1463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39712" y="2011680"/>
            <a:ext cx="146304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12864" y="2148840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Mode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2377440"/>
            <a:ext cx="1316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Sensing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27889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SQL以下</a:t>
            </a:r>
            <a:br/>
            <a:r>
              <a:t>精密測定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12864" y="3931920"/>
            <a:ext cx="1188720" cy="3200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2864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購入即日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011680"/>
            <a:ext cx="1463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2011680"/>
            <a:ext cx="146304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2148840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Mode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2377440"/>
            <a:ext cx="1316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Imaging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27889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サブショットノイズ</a:t>
            </a:r>
            <a:br/>
            <a:r>
              <a:t>顕微鏡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85632" y="3931920"/>
            <a:ext cx="1188720" cy="3200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購入即日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85248" y="2011680"/>
            <a:ext cx="1463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85248" y="2011680"/>
            <a:ext cx="146304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0" y="2148840"/>
            <a:ext cx="1316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Mode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2377440"/>
            <a:ext cx="1316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Tensor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7889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AI推論加速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3931920"/>
            <a:ext cx="1188720" cy="3200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購入即日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Mode 2-7は購入初日からSW変更のみで稼働。追加ハードウェアゼロ。全モード共通HW。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† 初期SW設定1-2週間を含む。Mode 1(FTQC)はファームウェア更新で段階的に進化。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H E   P R O B L E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  <a:latin typeface="Meiryo"/>
              </a:defRPr>
            </a:pPr>
            <a:r>
              <a:t>量子コンピュータは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  <a:latin typeface="Meiryo"/>
              </a:defRPr>
            </a:pPr>
            <a:r>
              <a:t>「データセンター専用」で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  <a:latin typeface="Meiryo"/>
              </a:defRPr>
            </a:pPr>
            <a:r>
              <a:t>止まっている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eiryo"/>
              </a:defRPr>
            </a:pPr>
            <a:r>
              <a:t>超伝導・イオン方式は希釈冷凍機 (15mK)</a:t>
            </a:r>
            <a:br/>
            <a:r>
              <a:t>または高真空イオントラップを必須とし、</a:t>
            </a:r>
            <a:br/>
            <a:r>
              <a:t>原理的に小型化が不可能。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65176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651760" cy="3657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冷 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Meiryo"/>
              </a:defRPr>
            </a:pPr>
            <a:r>
              <a:t>15mK ~ 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希釈冷凍機 / He冷凍機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097280"/>
            <a:ext cx="265176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097280"/>
            <a:ext cx="2651760" cy="3657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2344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消 費 電 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Meiryo"/>
              </a:defRPr>
            </a:pPr>
            <a:r>
              <a:t>30~200kW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施設の専用配電が必要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265176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17520"/>
            <a:ext cx="2651760" cy="3657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1546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サ イ 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Meiryo"/>
              </a:defRPr>
            </a:pPr>
            <a:r>
              <a:t>部屋規模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既存建屋への設置に改装必要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017520"/>
            <a:ext cx="265176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3017520"/>
            <a:ext cx="2651760" cy="3657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価 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Meiryo"/>
              </a:defRPr>
            </a:pPr>
            <a:r>
              <a:t>4.5~22.5億円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購入は政府・大企業のみ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Meiryo"/>
              </a:defRPr>
            </a:pPr>
            <a:r>
              <a:t>結果: 量子コンピュータを「実機で触れる」研究者は世界で1万人未満。教育・研究のボトルネック。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O U R   S O L U T I O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  <a:latin typeface="Meiryo"/>
              </a:defRPr>
            </a:pPr>
            <a:r>
              <a:t>光だから、室温で動く。光だから、デスクに置ける。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重量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CD4"/>
                </a:solidFill>
                <a:latin typeface="Meiryo"/>
              </a:defRPr>
            </a:pPr>
            <a:r>
              <a:t>7.5kg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Pro モデル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消費電力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CD4"/>
                </a:solidFill>
                <a:latin typeface="Meiryo"/>
              </a:defRPr>
            </a:pPr>
            <a:r>
              <a:t>109W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USB-PD EPR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73736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冷凍機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CD4"/>
                </a:solidFill>
                <a:latin typeface="Meiryo"/>
              </a:defRPr>
            </a:pPr>
            <a:r>
              <a:t>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完全室温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399" y="173736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18288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価格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CD4"/>
                </a:solidFill>
                <a:latin typeface="Meiryo"/>
              </a:defRPr>
            </a:pPr>
            <a:r>
              <a:t>1,800万円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560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Pro モデル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53035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CD4"/>
                </a:solidFill>
                <a:latin typeface="Meiryo"/>
              </a:defRPr>
            </a:pPr>
            <a:r>
              <a:t>H O W  —  技 術 ス タ ッ 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39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9592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PPLN導波路OPA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13dB スクイーズド光 (NTT 12.1dB CW実証)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17720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3600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macronode TDM クラスタ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光ファイバ遅延線で時分割に論理qubitを量産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57800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760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GKP + 表面符号 (d=3/5/7)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32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Phase 2+ PIC 統合で +1.8dB マージン確保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474720"/>
            <a:ext cx="548640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CD4"/>
                </a:solidFill>
                <a:latin typeface="Meiryo"/>
              </a:defRPr>
            </a:pPr>
            <a:r>
              <a:t>W H Y   N O W  —  今 、 成 立 す る 理 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977639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99592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PPLN導波路の量産化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336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NTT・住友・nLight 商用ライン稼働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526279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Soft-info MWPM 閾値確立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823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Noh-Chamberland 2022 で1.5%確定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074920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09320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Versal FPGA 27ns 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3309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光-電気-光ループが ns級で閉じる時代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623559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64184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CVBQP ⊇ BQP 証明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879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ITCS 2025: CV量子計算≧標準QC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D A Y - 1   V A L U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  <a:latin typeface="Meiryo"/>
              </a:defRPr>
            </a:pPr>
            <a:r>
              <a:t>量子優位を待たない。購入初日から収益化。</a:t>
            </a:r>
          </a:p>
        </p:txBody>
      </p:sp>
      <p:sp>
        <p:nvSpPr>
          <p:cNvPr id="7" name="Chevron 6"/>
          <p:cNvSpPr/>
          <p:nvPr/>
        </p:nvSpPr>
        <p:spPr>
          <a:xfrm>
            <a:off x="548640" y="1737360"/>
            <a:ext cx="3566160" cy="1097280"/>
          </a:xfrm>
          <a:prstGeom prst="chevron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  <a:latin typeface="Meiryo"/>
              </a:defRPr>
            </a:pPr>
            <a:r>
              <a:t>購入・納品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eiryo"/>
              </a:defRPr>
            </a:pPr>
            <a:r>
              <a:t>Taros Pro 1,800万円</a:t>
            </a:r>
            <a:br/>
            <a:r>
              <a:t>設置 10分 (AC接続のみ)</a:t>
            </a:r>
          </a:p>
        </p:txBody>
      </p:sp>
      <p:sp>
        <p:nvSpPr>
          <p:cNvPr id="10" name="Chevron 9"/>
          <p:cNvSpPr/>
          <p:nvPr/>
        </p:nvSpPr>
        <p:spPr>
          <a:xfrm>
            <a:off x="4206240" y="1737360"/>
            <a:ext cx="3566160" cy="1097280"/>
          </a:xfrm>
          <a:prstGeom prst="chevron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  <a:latin typeface="Meiryo"/>
              </a:defRPr>
            </a:pPr>
            <a:r>
              <a:t>SW設定 (1-2週)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eiryo"/>
              </a:defRPr>
            </a:pPr>
            <a:r>
              <a:t>モード選択・キャリブレーション</a:t>
            </a:r>
            <a:br/>
            <a:r>
              <a:t>追加HW不要</a:t>
            </a:r>
          </a:p>
        </p:txBody>
      </p:sp>
      <p:sp>
        <p:nvSpPr>
          <p:cNvPr id="13" name="Chevron 12"/>
          <p:cNvSpPr/>
          <p:nvPr/>
        </p:nvSpPr>
        <p:spPr>
          <a:xfrm>
            <a:off x="7863840" y="1737360"/>
            <a:ext cx="3566160" cy="1097280"/>
          </a:xfrm>
          <a:prstGeom prst="chevron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6モード即日稼働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eiryo"/>
              </a:defRPr>
            </a:pPr>
            <a:r>
              <a:t>FTQC以外の全モードで</a:t>
            </a:r>
            <a:br/>
            <a:r>
              <a:t>商用価値を即時提供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購入初日から稼働する6モードの商用価値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356616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54864" cy="10058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  <a:latin typeface="Meiryo"/>
              </a:defRPr>
            </a:pPr>
            <a:r>
              <a:t>CIM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584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2121"/>
                </a:solidFill>
                <a:latin typeface="Meiryo"/>
              </a:defRPr>
            </a:pPr>
            <a:r>
              <a:t>組合せ最適化 ~2,000スピン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67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車両ルーティング・スケジューリング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87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競合$5K-50K内蔵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3520440"/>
            <a:ext cx="356616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520440"/>
            <a:ext cx="54864" cy="10058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  <a:latin typeface="Meiryo"/>
              </a:defRPr>
            </a:pPr>
            <a:r>
              <a:t>QRC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584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2121"/>
                </a:solidFill>
                <a:latin typeface="Meiryo"/>
              </a:defRPr>
            </a:pPr>
            <a:r>
              <a:t>量子リザーバ計算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867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時系列予測・異常検知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087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14bit soft-info 高精度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3520440"/>
            <a:ext cx="356616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9" y="3520440"/>
            <a:ext cx="54864" cy="10058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  <a:latin typeface="Meiryo"/>
              </a:defRPr>
            </a:pPr>
            <a:r>
              <a:t>QRNG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584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2121"/>
                </a:solidFill>
                <a:latin typeface="Meiryo"/>
              </a:defRPr>
            </a:pPr>
            <a:r>
              <a:t>量子乱数 ~200Mbps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3867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真空ゆらぎホモダイン測定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4087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認証済み QR 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709160"/>
            <a:ext cx="356616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54864" cy="10058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  <a:latin typeface="Meiryo"/>
              </a:defRPr>
            </a:pPr>
            <a:r>
              <a:t>Sensing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47731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2121"/>
                </a:solidFill>
                <a:latin typeface="Meiryo"/>
              </a:defRPr>
            </a:pPr>
            <a:r>
              <a:t>SQL以下 精密測定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56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スクイーズド光センシング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2760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研究・計測用途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79" y="4709160"/>
            <a:ext cx="356616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79" y="4709160"/>
            <a:ext cx="54864" cy="10058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59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  <a:latin typeface="Meiryo"/>
              </a:defRPr>
            </a:pPr>
            <a:r>
              <a:t>Imaging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399" y="47731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2121"/>
                </a:solidFill>
                <a:latin typeface="Meiryo"/>
              </a:defRPr>
            </a:pPr>
            <a:r>
              <a:t>サブショットノイズ顕微鏡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5056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量子強化イメージング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59" y="52760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バイオ・材料科学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19" y="4709160"/>
            <a:ext cx="356616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19" y="4709160"/>
            <a:ext cx="54864" cy="10058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599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  <a:latin typeface="Meiryo"/>
              </a:defRPr>
            </a:pPr>
            <a:r>
              <a:t>Tensor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7731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2121"/>
                </a:solidFill>
                <a:latin typeface="Meiryo"/>
              </a:defRPr>
            </a:pPr>
            <a:r>
              <a:t>AI推論加速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599" y="5056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フォトニック行列演算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599" y="52760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推論コスト削減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053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CD4"/>
                </a:solidFill>
                <a:latin typeface="Meiryo"/>
              </a:defRPr>
            </a:pPr>
            <a:r>
              <a:t>FTQC完成前からMode 2-7で顧客価値を提供 → 量子コンピュータ初の「Day-1 Revenue」モデル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E C H N I C A L   E D G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  <a:latin typeface="Meiryo"/>
              </a:defRPr>
            </a:pPr>
            <a:r>
              <a:t>性能の根拠 — 数字は文献と独立計算で裏付け済み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1031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Meiryo"/>
              </a:defRPr>
            </a:pPr>
            <a:r>
              <a:t>13dB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PPLN OPA</a:t>
            </a:r>
            <a:br/>
            <a:r>
              <a:t>生成スクイージング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828800"/>
            <a:ext cx="21031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Meiryo"/>
              </a:defRPr>
            </a:pPr>
            <a:r>
              <a:t>L=0.27dB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全劣化 (BSモデル)</a:t>
            </a:r>
            <a:br/>
            <a:r>
              <a:t>PIC統合・GAWBS・QE込み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828800"/>
            <a:ext cx="21031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Meiryo"/>
              </a:defRPr>
            </a:pPr>
            <a:r>
              <a:t>9.3dB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実効 σ_eff</a:t>
            </a:r>
            <a:br/>
            <a:r>
              <a:t>BS モデル (現実Δ=0.12)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828800"/>
            <a:ext cx="21031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Meiryo"/>
              </a:defRPr>
            </a:pPr>
            <a:r>
              <a:t>~4.9×10⁻³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p_phys</a:t>
            </a:r>
            <a:br/>
            <a:r>
              <a:t>物理エラー率 (erfc)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D4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828800"/>
            <a:ext cx="2103120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~3.3×10⁻⁴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423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eiryo"/>
              </a:defRPr>
            </a:pPr>
            <a:r>
              <a:t>p_L (d=7, MWPM)</a:t>
            </a:r>
            <a:br/>
            <a:r>
              <a:t>製品要件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閾値マージン — Phase 2+ PIC 統合での量子誤り訂正成立余裕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97680"/>
            <a:ext cx="8686800" cy="4114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eiryo"/>
              </a:defRPr>
            </a:pPr>
            <a:r>
              <a:t>実効 σ_eff (Phase 2+ PIC現実)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Meiryo"/>
              </a:defRPr>
            </a:pPr>
            <a:r>
              <a:t>9.3 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00600"/>
            <a:ext cx="6583680" cy="4114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18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eiryo"/>
              </a:defRPr>
            </a:pPr>
            <a:r>
              <a:t>閾値 (postselection)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818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Meiryo"/>
              </a:defRPr>
            </a:pPr>
            <a:r>
              <a:t>7.5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Meiryo"/>
              </a:defRPr>
            </a:pPr>
            <a:r>
              <a:t>→ Phase 2+ PIC 余裕 +1.8dB — 製品要件 p_L ≈ 3.3×10⁻⁴ を達成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D E C I S I V E   A D V A N T A G E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  <a:latin typeface="Meiryo"/>
              </a:defRPr>
            </a:pPr>
            <a:r>
              <a:t>CV方式の3つの決定的優位性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737360"/>
            <a:ext cx="102412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14bit soft-info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全競合方式は binary シンドローム。CV方式は14bitアナログ情報をデコーダに供給。MWPM閾値 1.5% は soft-info で達成。同一物理エラー率で論理エラー率を桁違いに低減。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337560"/>
            <a:ext cx="102412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429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qumode = 無限次元ヒルベルト空間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404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ボソニック場理論をネイティブにシミュレーション。格子ゲージ理論、Bose-Hubbard、分子振動。CVBQP ⊇ BQP 証明済み (ITCS 2025)。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10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937760"/>
            <a:ext cx="102412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0292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7-in-1 プラットフォーム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406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eiryo"/>
              </a:defRPr>
            </a:pPr>
            <a:r>
              <a:t>同一HWで7動作モード。量子優位証明前から6モードで商用価値を提供。競合方式では実現不可能な多用途性。投資リスクを本質的に低減。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P R O D U C T   L I N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  <a:latin typeface="Meiryo"/>
              </a:defRPr>
            </a:pPr>
            <a:r>
              <a:t>単一プラットフォームで 3 製品 — d=3/5/7 スケーリング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121"/>
                </a:solidFill>
                <a:latin typeface="Meiryo"/>
              </a:defRPr>
            </a:pPr>
            <a:r>
              <a:t>Taros 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Meiryo"/>
              </a:defRPr>
            </a:pPr>
            <a:r>
              <a:t>d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12121"/>
                </a:solidFill>
                <a:latin typeface="Meiryo"/>
              </a:defRPr>
            </a:pPr>
            <a:r>
              <a:t>1,350万円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重量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~4.3kg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消費電力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8327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~104W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論理 qubit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74903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1-10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p_L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114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~10⁻² (MWPM)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31546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教育・QEC研究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73736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121"/>
                </a:solidFill>
                <a:latin typeface="Meiryo"/>
              </a:defRPr>
            </a:pPr>
            <a:r>
              <a:t>Taros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Meiryo"/>
              </a:defRPr>
            </a:pPr>
            <a:r>
              <a:t>d =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1828800"/>
            <a:ext cx="960120" cy="274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828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FLAGSHIP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468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12121"/>
                </a:solidFill>
                <a:latin typeface="Meiryo"/>
              </a:defRPr>
            </a:pPr>
            <a:r>
              <a:t>1,800万円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重量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19" y="30175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~7.5kg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3832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消費電力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19" y="338327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~109W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論理 qubit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19" y="374903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10-100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114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p_L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19" y="4114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~10⁻⁴ (MWPM)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754880"/>
            <a:ext cx="31546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846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研究・VQE / QAOA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173736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59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121"/>
                </a:solidFill>
                <a:latin typeface="Meiryo"/>
              </a:defRPr>
            </a:pPr>
            <a:r>
              <a:t>Taros 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Meiryo"/>
              </a:defRPr>
            </a:pPr>
            <a:r>
              <a:t>d = 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9" y="2468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12121"/>
                </a:solidFill>
                <a:latin typeface="Meiryo"/>
              </a:defRPr>
            </a:pPr>
            <a:r>
              <a:t>2,550万円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59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重量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30175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~9.7kg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59" y="33832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消費電力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38327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~112W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374903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論理 qubit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74903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10-1,000+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59" y="4114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p_L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114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12121"/>
                </a:solidFill>
                <a:latin typeface="Meiryo"/>
              </a:defRPr>
            </a:pPr>
            <a:r>
              <a:t>~3.3×10⁻⁴ (MWPM)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59" y="4754880"/>
            <a:ext cx="31546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59" y="4846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FTQC・量子化学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Meiryo"/>
              </a:defRPr>
            </a:pPr>
            <a:r>
              <a:t>単一光学プラットフォーム + PMF遅延線の長さ調整のみで3製品を展開 → 量産設計コスト 1/3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9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M A R K E T   &amp;   C O M P E T I T I O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12121"/>
                </a:solidFill>
                <a:latin typeface="Meiryo"/>
              </a:defRPr>
            </a:pPr>
            <a:r>
              <a:t>「量子コンピュータの Raspberry Pi」— ブルーオーシャン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8872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製品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691640"/>
            <a:ext cx="118872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691640"/>
            <a:ext cx="118872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サイズ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118872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消費電力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691640"/>
            <a:ext cx="118872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冷却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691640"/>
            <a:ext cx="1188720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1709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価格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057400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075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IBM QS Two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2057400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075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超伝導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057400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2075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部屋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057400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075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200kW+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057400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075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15mK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2057400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20756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22.5億円+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40487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IonQ Forte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240487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イオン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240487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ラック×3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40487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30kW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240487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3212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高真空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2404872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59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4.5億円+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752344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Xanadu Aurora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83080" y="2752344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フォトニック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2752344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40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ラック多数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2752344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100kW+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752344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2120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4K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2752344"/>
            <a:ext cx="11887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59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Meiryo"/>
              </a:defRPr>
            </a:pPr>
            <a:r>
              <a:t>15億円+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099816"/>
            <a:ext cx="1188720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3118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Taros Pro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83080" y="3099816"/>
            <a:ext cx="1188720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0" y="3118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CV 光子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3099816"/>
            <a:ext cx="1188720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63240" y="3118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7.5kg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60" y="3099816"/>
            <a:ext cx="1188720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97680" y="3118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109W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3099816"/>
            <a:ext cx="1188720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2120" y="3118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完全室温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0840" y="3099816"/>
            <a:ext cx="1188720" cy="32918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66559" y="3118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eiryo"/>
              </a:defRPr>
            </a:pPr>
            <a:r>
              <a:t>1,800万円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169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市場規模</a:t>
            </a:r>
          </a:p>
        </p:txBody>
      </p:sp>
      <p:sp>
        <p:nvSpPr>
          <p:cNvPr id="68" name="Oval 67"/>
          <p:cNvSpPr/>
          <p:nvPr/>
        </p:nvSpPr>
        <p:spPr>
          <a:xfrm>
            <a:off x="7498079" y="1920239"/>
            <a:ext cx="4023360" cy="402336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CD4"/>
                </a:solidFill>
                <a:latin typeface="Meiryo"/>
              </a:defRPr>
            </a:pPr>
            <a:r>
              <a:t>T A 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0" y="2377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Meiryo"/>
              </a:defRPr>
            </a:pPr>
            <a:r>
              <a:t>1,250機関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225億円</a:t>
            </a:r>
          </a:p>
        </p:txBody>
      </p:sp>
      <p:sp>
        <p:nvSpPr>
          <p:cNvPr id="72" name="Oval 71"/>
          <p:cNvSpPr/>
          <p:nvPr/>
        </p:nvSpPr>
        <p:spPr>
          <a:xfrm>
            <a:off x="8138160" y="2560320"/>
            <a:ext cx="2743200" cy="2743200"/>
          </a:xfrm>
          <a:prstGeom prst="ellipse">
            <a:avLst/>
          </a:prstGeom>
          <a:solidFill>
            <a:srgbClr val="B2EBF2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408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CD4"/>
                </a:solidFill>
                <a:latin typeface="Meiryo"/>
              </a:defRPr>
            </a:pPr>
            <a:r>
              <a:t>S A 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Meiryo"/>
              </a:defRPr>
            </a:pPr>
            <a:r>
              <a:t>650機関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32918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117億円</a:t>
            </a:r>
          </a:p>
        </p:txBody>
      </p:sp>
      <p:sp>
        <p:nvSpPr>
          <p:cNvPr id="76" name="Oval 75"/>
          <p:cNvSpPr/>
          <p:nvPr/>
        </p:nvSpPr>
        <p:spPr>
          <a:xfrm>
            <a:off x="8869680" y="3291839"/>
            <a:ext cx="1280160" cy="12801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61120" y="3611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SOM Y3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eiryo"/>
              </a:defRPr>
            </a:pPr>
            <a:r>
              <a:t>100機関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6112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18億円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10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V A L I D A T I O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  <a:latin typeface="Meiryo"/>
              </a:defRPr>
            </a:pPr>
            <a:r>
              <a:t>机上の数字ではない — 既に独立検証済み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920240"/>
            <a:ext cx="182880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100M shots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Stim 量子シミュレーション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p_phys=5×10⁻⁴, d=3/5/7 すべての論理エラー率予測を約1億ショットで再現。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011679"/>
            <a:ext cx="256032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2011679"/>
            <a:ext cx="2560320" cy="2743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完了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109728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90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971800"/>
            <a:ext cx="182880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9900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9件 文献照合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公開文献との独立照合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Noh-Chamberland 2022, Stafford-Menicucci 2025 など9件の査読済論文と数値突合。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3063239"/>
            <a:ext cx="256032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3063239"/>
            <a:ext cx="2560320" cy="2743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0632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完了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40479"/>
            <a:ext cx="109728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023359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4164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023359"/>
            <a:ext cx="182880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041647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156q 実機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9319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IBM Quantum 実機検証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ibm_fez (156 qubit) 上でデコーダ計算量・サイクル時間を実測。FPGA設計値と整合。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114799"/>
            <a:ext cx="256032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86800" y="4114799"/>
            <a:ext cx="2560320" cy="2743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41147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完了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92040"/>
            <a:ext cx="109728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0932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5074920"/>
            <a:ext cx="182880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5093207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13項目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9834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ノイズバジェット (BSモデル)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303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GAWBS, EO消光比, AWG, PIC統合損失など全項目をBSモデルで個別計上。隠れた損失なし。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5166359"/>
            <a:ext cx="256032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0" y="5166359"/>
            <a:ext cx="2560320" cy="2743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51663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完了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Meiryo"/>
              </a:defRPr>
            </a:pPr>
            <a:r>
              <a:t>→ 設計書 14本 公開 — 完全な技術デューデリジェンス対応済み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11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R O A D M A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  <a:latin typeface="Meiryo"/>
              </a:defRPr>
            </a:pPr>
            <a:r>
              <a:t>段階的検証 → プロトタイプ → 量産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0972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19" y="2606040"/>
            <a:ext cx="320040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2606040" cy="2286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Phase 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eiryo"/>
              </a:defRPr>
            </a:pPr>
            <a:r>
              <a:t>12ヶ月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原理検証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CD4"/>
                </a:solidFill>
                <a:latin typeface="Meiryo"/>
              </a:defRPr>
            </a:pPr>
            <a:r>
              <a:t>4.6億円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606040"/>
            <a:ext cx="320040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3017520"/>
            <a:ext cx="26060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Phase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375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12-18ヶ月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7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Meiryo"/>
              </a:defRPr>
            </a:pPr>
            <a:r>
              <a:t>Edu試作 / Break-even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114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Meiryo"/>
              </a:defRPr>
            </a:pPr>
            <a:r>
              <a:t>1.8億円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2606040"/>
            <a:ext cx="320040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1645920"/>
            <a:ext cx="26060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7373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Phase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659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12-18ヶ月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2402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Meiryo"/>
              </a:defRPr>
            </a:pPr>
            <a:r>
              <a:t>Pro 製品化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Meiryo"/>
              </a:defRPr>
            </a:pPr>
            <a:r>
              <a:t>1.5億円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79" y="2606040"/>
            <a:ext cx="320040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399" y="3017520"/>
            <a:ext cx="26060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59" y="31089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33375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6-12ヶ月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361187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Meiryo"/>
              </a:defRPr>
            </a:pPr>
            <a:r>
              <a:t>量産 (100台/年)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4114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  <a:latin typeface="Meiryo"/>
              </a:defRPr>
            </a:pPr>
            <a:r>
              <a:t>0.8億円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最重要マイルストーン: G-EXP1 (開始後2ヶ月) — 約800万円で Level A 成功確率を 25-35% → 50%超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12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R I S K   A S S E S S M E N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12121"/>
                </a:solidFill>
                <a:latin typeface="Meiryo"/>
              </a:defRPr>
            </a:pPr>
            <a:r>
              <a:t>リスクは透明に開示。レッドチーム評価を経た保守的見積り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5836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OPA 13dB パルス未実証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NTT 12.1dB CW は実証済 → SiN clad 改良で 0.9dB ギャップ。Phase -1 で検証。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65836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MWPM / Soft-info 製品化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Phase 0/1 は UF 350ns で実証 → Phase 2+ PIC で MWPM 510ns へ移行。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65836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4864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1363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G-EXP1 結果未取得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約800万円 で Phase -1 開始後2ヶ月に実施。失敗時は DV-FBQC へフォールバック。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1737360"/>
            <a:ext cx="2926080" cy="292608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19" y="237744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97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  <a:latin typeface="Meiryo"/>
              </a:defRPr>
            </a:pPr>
            <a:r>
              <a:t>81-90%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00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eiryo"/>
              </a:defRPr>
            </a:pPr>
            <a:r>
              <a:t>FTQC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429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eiryo"/>
              </a:defRPr>
            </a:pPr>
            <a:r>
              <a:t>実現確率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7373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  <a:latin typeface="Meiryo"/>
              </a:defRPr>
            </a:pPr>
            <a:r>
              <a:t>フォールバック完備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846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12121"/>
                </a:solidFill>
                <a:latin typeface="Meiryo"/>
              </a:defRPr>
            </a:pPr>
            <a:r>
              <a:t>CV pure 81% / CV+QD 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CV不成立時は DV-FBQC 方式 (28kg / 2.1kW / 約6,480万円)</a:t>
            </a:r>
            <a:br/>
            <a:r>
              <a:t>にフォールバック — 投資リスクを限定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C A P I T A L   E F F I C I E N C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  <a:latin typeface="Meiryo"/>
              </a:defRPr>
            </a:pPr>
            <a:r>
              <a:t>段階的に検証、最小資本で世界初へ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6060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7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Meiryo"/>
              </a:defRPr>
            </a:pPr>
            <a:r>
              <a:t>75万円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39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2週間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3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Meiryo"/>
              </a:defRPr>
            </a:pPr>
            <a:r>
              <a:t>原理判定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06040" cy="1554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7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Meiryo"/>
              </a:defRPr>
            </a:pPr>
            <a:r>
              <a:t>800万円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06039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2ヶ月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3463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Meiryo"/>
              </a:defRPr>
            </a:pPr>
            <a:r>
              <a:t>GKP光学実証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08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装置直接費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1645919"/>
            <a:ext cx="260604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7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  <a:latin typeface="Meiryo"/>
              </a:defRPr>
            </a:pPr>
            <a:r>
              <a:t>2,900万円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39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5ヶ月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77439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Meiryo"/>
              </a:defRPr>
            </a:pPr>
            <a:r>
              <a:t>完全コスト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51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人件費込み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399" y="1097280"/>
            <a:ext cx="2606040" cy="2560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12344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4.6億円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160020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C5"/>
                </a:solidFill>
                <a:latin typeface="Meiryo"/>
              </a:defRPr>
            </a:pPr>
            <a:r>
              <a:t>12ヶ月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QEC Break-even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103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EC5"/>
                </a:solidFill>
                <a:latin typeface="Meiryo"/>
              </a:defRPr>
            </a:pPr>
            <a:r>
              <a:t>世界初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Meiryo"/>
              </a:defRPr>
            </a:pPr>
            <a:r>
              <a:t>競合の累計調達額 — 桁違いの資本効率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389120"/>
            <a:ext cx="82296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40740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Meiryo"/>
              </a:defRPr>
            </a:pPr>
            <a:r>
              <a:t>PsiQuantum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4407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Meiryo"/>
              </a:defRPr>
            </a:pPr>
            <a:r>
              <a:t>約1,500億円超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892040"/>
            <a:ext cx="74066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1032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Meiryo"/>
              </a:defRPr>
            </a:pPr>
            <a:r>
              <a:t>IonQ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49103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Meiryo"/>
              </a:defRPr>
            </a:pPr>
            <a:r>
              <a:t>約1,350億円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394960"/>
            <a:ext cx="310896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Meiryo"/>
              </a:defRPr>
            </a:pPr>
            <a:r>
              <a:t>Xanadu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Meiryo"/>
              </a:defRPr>
            </a:pPr>
            <a:r>
              <a:t>約560億円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5897880"/>
            <a:ext cx="365760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16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CD4"/>
                </a:solidFill>
                <a:latin typeface="Meiryo"/>
              </a:defRPr>
            </a:pPr>
            <a:r>
              <a:t>Taros (計画)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916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CD4"/>
                </a:solidFill>
                <a:latin typeface="Meiryo"/>
              </a:defRPr>
            </a:pPr>
            <a:r>
              <a:t>約8.7億円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14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F I N A N C I A L   P R O J E C T I O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  <a:latin typeface="Meiryo"/>
              </a:defRPr>
            </a:pPr>
            <a:r>
              <a:t>黒字化から36億円 ARR を視野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2004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2004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黒字化タイミング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Meiryo"/>
              </a:defRPr>
            </a:pPr>
            <a:r>
              <a:t>Phase 2完了後</a:t>
            </a:r>
            <a:br/>
            <a:r>
              <a:t>1〜2年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32004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32004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eiryo"/>
              </a:defRPr>
            </a:pPr>
            <a:r>
              <a:t>粗利率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  <a:latin typeface="Meiryo"/>
              </a:defRPr>
            </a:pPr>
            <a:r>
              <a:t>~33%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規模効果で逓増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91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CD4"/>
                </a:solidFill>
                <a:latin typeface="Meiryo"/>
              </a:defRPr>
            </a:pPr>
            <a:r>
              <a:t>A R R   成 長 予 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754880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  <a:latin typeface="Meiryo"/>
              </a:defRPr>
            </a:pPr>
            <a:r>
              <a:t>Y1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303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629150"/>
            <a:ext cx="1463040" cy="400050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72059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Meiryo"/>
              </a:defRPr>
            </a:pPr>
            <a:r>
              <a:t>4.5億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  <a:latin typeface="Meiryo"/>
              </a:defRPr>
            </a:pPr>
            <a:r>
              <a:t>Y2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303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25台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429000"/>
            <a:ext cx="1463040" cy="16002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18億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  <a:latin typeface="Meiryo"/>
              </a:defRPr>
            </a:pPr>
            <a:r>
              <a:t>Y3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303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100台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828800"/>
            <a:ext cx="1463040" cy="3200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36億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121"/>
                </a:solidFill>
                <a:latin typeface="Meiryo"/>
              </a:defRPr>
            </a:pPr>
            <a:r>
              <a:t>Y4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303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Meiryo"/>
              </a:defRPr>
            </a:pPr>
            <a:r>
              <a:t>200台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Meiryo"/>
              </a:defRPr>
            </a:pPr>
            <a:r>
              <a:t>投資論理: 失敗時上限 4.6億円 (Phase -1)、成功時 ARR 36億円 (Y4) — リスク調整後リターン ~3.5倍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15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2 0 3 0   M O O N S H O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Taros が拓く4つの未来産業</a:t>
            </a:r>
          </a:p>
        </p:txBody>
      </p:sp>
      <p:sp>
        <p:nvSpPr>
          <p:cNvPr id="7" name="Oval 6"/>
          <p:cNvSpPr/>
          <p:nvPr/>
        </p:nvSpPr>
        <p:spPr>
          <a:xfrm>
            <a:off x="4709160" y="3200400"/>
            <a:ext cx="1828800" cy="9144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3832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Taros</a:t>
            </a:r>
            <a:br/>
            <a:r>
              <a:t>7-in-1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108960"/>
            <a:ext cx="1371600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108960"/>
            <a:ext cx="1371600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0" y="4206240"/>
            <a:ext cx="1371600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1371600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645920"/>
            <a:ext cx="4114800" cy="1463040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45920"/>
            <a:ext cx="41148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量子脳 (NeuroQ)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031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eiryo"/>
              </a:defRPr>
            </a:pPr>
            <a:r>
              <a:t>CV量子直接互換フレームワーク</a:t>
            </a:r>
            <a:br/>
            <a:r>
              <a:t>C.elegans 302ニューロン→ロボット知能</a:t>
            </a:r>
            <a:br/>
            <a:r>
              <a:t>市場: $20B→$130B (2029)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645920"/>
            <a:ext cx="4480560" cy="1463040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1645920"/>
            <a:ext cx="448056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7830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量子ホログラム (QGH)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031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eiryo"/>
              </a:defRPr>
            </a:pPr>
            <a:r>
              <a:t>QFTで干渉パターンN≈10⁶倍高速計算</a:t>
            </a:r>
            <a:br/>
            <a:r>
              <a:t>GKPフーリエ構造=ホログラム構造</a:t>
            </a:r>
            <a:br/>
            <a:r>
              <a:t>6G要件: 4.32Tbps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4114800" cy="1463040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41148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09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量子創薬・不老長寿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eiryo"/>
              </a:defRPr>
            </a:pPr>
            <a:r>
              <a:t>プロトントンネリング(DNA変異の量子起源)</a:t>
            </a:r>
            <a:br/>
            <a:r>
              <a:t>セノリティクス分子の量子設計</a:t>
            </a:r>
            <a:br/>
            <a:r>
              <a:t>P450精度 71%→94%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572000"/>
            <a:ext cx="4480560" cy="1463040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4572000"/>
            <a:ext cx="448056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4709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ロボット知能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0292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eiryo"/>
              </a:defRPr>
            </a:pPr>
            <a:r>
              <a:t>CIMで50ms制御壁突破</a:t>
            </a:r>
            <a:br/>
            <a:r>
              <a:t>スクイーズド光でSQL超え力覚</a:t>
            </a:r>
            <a:br/>
            <a:r>
              <a:t>量子モジュール供給TAM ~$500M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A R O 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38912"/>
            <a:ext cx="45720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Meiryo"/>
              </a:defRPr>
            </a:pPr>
            <a:r>
              <a:t>16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D4"/>
                </a:solidFill>
                <a:latin typeface="Meiryo"/>
              </a:defRPr>
            </a:pPr>
            <a:r>
              <a:t>T H E   A S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  <a:latin typeface="Meiryo"/>
              </a:defRPr>
            </a:pPr>
            <a:r>
              <a:t>Phase -1 シード — 4.6億円 / 12ヶ月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CD4"/>
                </a:solidFill>
                <a:latin typeface="Meiryo"/>
              </a:defRPr>
            </a:pPr>
            <a:r>
              <a:t>R A I S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eiryo"/>
              </a:defRPr>
            </a:pPr>
            <a:r>
              <a:t>4.6 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eiryo"/>
              </a:defRPr>
            </a:pPr>
            <a:r>
              <a:t>シード資金で全14タスクを実行し、</a:t>
            </a:r>
            <a:br/>
            <a:r>
              <a:t>Phase 0 移行判定の全データを取得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CD4"/>
                </a:solidFill>
                <a:latin typeface="Meiryo"/>
              </a:defRPr>
            </a:pPr>
            <a:r>
              <a:t>K E Y   M I L E S T O N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G-EXP1 (開始後2ヶ月)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eiryo"/>
              </a:defRPr>
            </a:pPr>
            <a:r>
              <a:t>Level A 成功確率 50%超への引き上げ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CD4"/>
                </a:solidFill>
                <a:latin typeface="Meiryo"/>
              </a:defRPr>
            </a:pPr>
            <a:r>
              <a:t>U S E   O F   F U N D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194560"/>
            <a:ext cx="4032504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212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eiryo"/>
              </a:defRPr>
            </a:pPr>
            <a:r>
              <a:t>人件費 63%  約2.9億円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2194560"/>
            <a:ext cx="128016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221284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eiryo"/>
              </a:defRPr>
            </a:pPr>
            <a:r>
              <a:t>装置 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41863" y="2194560"/>
            <a:ext cx="1088136" cy="4572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87584" y="221284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eiryo"/>
              </a:defRPr>
            </a:pPr>
            <a:r>
              <a:t>他 17%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926080"/>
            <a:ext cx="54864" cy="7315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人件費 (11名 × 12ヶ月)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理論2 + 光源2 + CV計算2 + PIC1 + 冷却2 + 制御SW2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12121"/>
                </a:solidFill>
                <a:latin typeface="Meiryo"/>
              </a:defRPr>
            </a:pPr>
            <a:r>
              <a:t>約 2.9 億円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840480"/>
            <a:ext cx="54864" cy="73152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光学実験装置・部品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60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PPLN OPA, EOM, AWG, ホモダイン検出系, 位相ロック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12121"/>
                </a:solidFill>
                <a:latin typeface="Meiryo"/>
              </a:defRPr>
            </a:pPr>
            <a:r>
              <a:t>約 9,200万円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4754880"/>
            <a:ext cx="54864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80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Meiryo"/>
              </a:defRPr>
            </a:pPr>
            <a:r>
              <a:t>GPU 計算 / 外部委託 / 施設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Meiryo"/>
              </a:defRPr>
            </a:pPr>
            <a:r>
              <a:t>Stim シミュレーション, GKP実験委託, クリーンブース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12121"/>
                </a:solidFill>
                <a:latin typeface="Meiryo"/>
              </a:defRPr>
            </a:pPr>
            <a:r>
              <a:t>約 8,300万円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Meiryo"/>
              </a:defRPr>
            </a:pPr>
            <a:r>
              <a:t>T H E   F U T U R E   O F   Q U A N T U M   I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eiryo"/>
              </a:defRPr>
            </a:pPr>
            <a:r>
              <a:t>デスクトップに来る。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Meiryo"/>
              </a:defRPr>
            </a:pPr>
            <a:r>
              <a:t>室温 109W で動く誤り訂正型量子コンピュータを、世界の研究室・教室・企業 R&amp;D に。</a:t>
            </a:r>
            <a:br/>
            <a:r>
              <a:t>購入初日から7つのモードで価値を届ける。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731520" cy="50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CD4"/>
                </a:solidFill>
                <a:latin typeface="Meiryo"/>
              </a:defRPr>
            </a:pPr>
            <a:r>
              <a:t>次 の ス テ ッ 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"/>
              </a:defRPr>
            </a:pPr>
            <a:r>
              <a:t>技術 DD パッケージ (設計書14本) のレビュー  →  タームシート協議  →  Phase -1 着手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eiryo"/>
              </a:defRPr>
            </a:pPr>
            <a:r>
              <a:t>T A R O S  ·  D e s k t o p   P h o t o n i c   Q u a n t u m   C o m p u t e r  ·  v 4 .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