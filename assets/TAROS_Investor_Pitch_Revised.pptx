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Arial"/>
              </a:rPr>
              <a:t>売上 / 粗利 推移 (億円)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FB6D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3.6</c:v>
                </c:pt>
                <c:pt idx="1">
                  <c:v>9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粗利 (~40%)</c:v>
                </c:pt>
              </c:strCache>
            </c:strRef>
          </c:tx>
          <c:spPr>
            <a:solidFill>
              <a:srgbClr val="0E8F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24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2030 (20台)</c:v>
                  </c:pt>
                  <c:pt idx="1">
                    <c:v>2031 (50台)</c:v>
                  </c:pt>
                  <c:pt idx="2">
                    <c:v>2032 (100台)</c:v>
                  </c:pt>
                  <c:pt idx="3">
                    <c:v>2033 (200台)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1.5</c:v>
                </c:pt>
                <c:pt idx="1">
                  <c:v>3.75</c:v>
                </c:pt>
                <c:pt idx="2">
                  <c:v>7.5</c:v>
                </c:pt>
                <c:pt idx="3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24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1554480"/>
            <a:ext cx="54864" cy="365760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150876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3000" dirty="0"/>
          </a:p>
        </p:txBody>
      </p:sp>
      <p:sp>
        <p:nvSpPr>
          <p:cNvPr id="9" name="Text 7"/>
          <p:cNvSpPr/>
          <p:nvPr/>
        </p:nvSpPr>
        <p:spPr>
          <a:xfrm>
            <a:off x="1005840" y="30175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Desktop Photonic Quantum Computer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アダプタで動く デスクサイド誤り訂正型量子コンピュータ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Photonic CV + GKP + macronode TDM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完全室温・109W</a:t>
            </a:r>
            <a:pPr indent="0" marL="0">
              <a:buNone/>
            </a:pPr>
            <a:r>
              <a:rPr lang="en-US" sz="14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|    </a:t>
            </a:r>
            <a:pPr indent="0" marL="0">
              <a:buNone/>
            </a:pPr>
            <a:r>
              <a:rPr lang="en-US" sz="14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1,350万〜2,550万円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6355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Pitch  ·  May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 ·  v3.4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0A1B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「電源コンセントとLANケーブルで動く量子コンピュータ」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3434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3434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333756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010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80010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 アダプタ駆動 109W (Pro)。冷凍機・特殊配管なし。電源を入れた瞬間から動作する量子コンピュータ。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7482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27482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0580" y="3337560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4058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デスクサイド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64058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7.5kg / Edu 4.3kg。研究室間の持ち運び・出張デモ・教室への配備が可能なポータブル筐体。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15300" y="2926080"/>
            <a:ext cx="361188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5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115300" y="2926080"/>
            <a:ext cx="361188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1060" y="3337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81060" y="39776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誤り訂正型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8481060" y="45262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≲ 10⁻⁴ (d=7, MWPM, 製品要件)。Phase 2+ PIC 統合で論理エラー率を物理エラー率以下へ。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量子コンピュータは「データセンター専用」で止まっている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超伝導・イオン方式は希釈冷凍機 (15mK) または高真空イオントラップを必須とし、原理的に小型化が不可能。研究室・教室・産業現場には届かない。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9436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6868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15mK ~ 4K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6868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希釈冷凍機 / He冷凍機が必須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38328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~ 200kW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65760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施設の専用配電が必要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7220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4652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サイズ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4652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部屋規模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4652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既存建屋への設置に改装が必要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961120" y="2926080"/>
            <a:ext cx="2606040" cy="219456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961120" y="2926080"/>
            <a:ext cx="260604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235440" y="315468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235440" y="35204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4.5〜22.5億円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235440" y="429768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数台単位、購入は政府・大企業のみ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結果として、量子コンピュータを「実機で触れる」研究者は世界で1万人未満。教育・研究のボトルネックに。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光だから、室温で動く。光だから、デスクに置ける。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9436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7.5kg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7724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モデル(WDM込み)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6616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109W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6616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USB-PD EPR 駆動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5508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635508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冷凍機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5508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完全室温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961120" y="2103120"/>
            <a:ext cx="2606040" cy="178308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144000" y="233172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9144000" y="315468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価格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347472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モデル ($120K)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— 技術スタック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8580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PPLN導波路OPA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6868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 スクイーズド光生成 (NTT 12.1dB CW実証ベース)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6868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macronode TDM クラスタ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6868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光ファイバ遅延線で時分割に論理qubitを量産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580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6868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 + 表面符号 (d=3/5/7)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6868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2+ PIC 統合で +3.4dB マージンを確保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4206240"/>
            <a:ext cx="5303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 — 2026年に成立する理由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46520" y="481888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6629400" y="47091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PPLN導波路の量産化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NTT・住友・nLight が商用ライン稼働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46520" y="541324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629400" y="53035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Soft-info MWPM デコーダの成熟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29400" y="55778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 で閾値1.5%が確立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46520" y="6007608"/>
            <a:ext cx="91440" cy="91440"/>
          </a:xfrm>
          <a:prstGeom prst="ellipse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6629400" y="58978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Versal FPGA 27ns フィードフォワード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629400" y="61722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光-電気-光ループが ns 級で閉じる時代に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EDGE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性能の根拠 — 数字は文献と独立計算で裏付け済み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13dB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生成スクイージング σ_gen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5176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3464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92608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L=0.27dB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292608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全劣化 (BSモデル)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92608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PIC統合・GAWBS・PD QE 込み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12064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9.5dB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12064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2064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 BS モデル (現実Δ=0.12)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04088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23760" y="2103120"/>
            <a:ext cx="210312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~3×10⁻³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31520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物理エラー率 (erfc)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235440" y="28117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18320" y="2103120"/>
            <a:ext cx="210312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509760" y="22402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~7×10⁻⁵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509760" y="297180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 (d=7, MWPM)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50976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製品要件 (理論限界 5.7×10⁻⁷)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" y="4114800"/>
            <a:ext cx="11247120" cy="23774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343400"/>
            <a:ext cx="365760" cy="365760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1097280" y="431596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閾値マージン — Phase 2+ PIC 統合での量子誤り訂正成立余裕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7724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実効 σ_eff (Phase 2+ PIC現実)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2926080" y="498348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36" name="Shape 33"/>
          <p:cNvSpPr/>
          <p:nvPr/>
        </p:nvSpPr>
        <p:spPr>
          <a:xfrm>
            <a:off x="2926080" y="4983480"/>
            <a:ext cx="6652260" cy="256032"/>
          </a:xfrm>
          <a:prstGeom prst="rect">
            <a:avLst/>
          </a:prstGeom>
          <a:solidFill>
            <a:srgbClr val="20C997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9624060" y="49651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 dB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777240" y="53766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(全モード重み)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2926080" y="539496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0" name="Shape 37"/>
          <p:cNvSpPr/>
          <p:nvPr/>
        </p:nvSpPr>
        <p:spPr>
          <a:xfrm>
            <a:off x="2926080" y="5394960"/>
            <a:ext cx="6035040" cy="256032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9006840" y="53766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 dB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777240" y="57881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 (postselection)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2926080" y="5806440"/>
            <a:ext cx="6858000" cy="256032"/>
          </a:xfrm>
          <a:prstGeom prst="rect">
            <a:avLst/>
          </a:prstGeom>
          <a:solidFill>
            <a:srgbClr val="E5EAF0"/>
          </a:solidFill>
          <a:ln/>
        </p:spPr>
        <p:txBody>
          <a:bodyPr/>
          <a:p/>
        </p:txBody>
      </p:sp>
      <p:sp>
        <p:nvSpPr>
          <p:cNvPr id="44" name="Shape 41"/>
          <p:cNvSpPr/>
          <p:nvPr/>
        </p:nvSpPr>
        <p:spPr>
          <a:xfrm>
            <a:off x="2926080" y="5806440"/>
            <a:ext cx="4320540" cy="25603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292340" y="57881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dB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Phase 2+ PIC 余裕 +3.4dB (PS) / +0.9dB (全モード) — 製品要件 p_L ≲ 10⁻⁴ を達成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単一プラットフォームで 3 製品 — d=3/5/7 スケーリング戦略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9718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9718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7150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Edu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150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150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1,350万円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57150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71450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~4.3kg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150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1450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7150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71450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1–10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7150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71450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~10⁻² (MWPM)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7150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5669280"/>
            <a:ext cx="274320" cy="27432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93726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教育・QEC研究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22910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4229100" y="3017520"/>
            <a:ext cx="3703320" cy="3108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6697980" y="228600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FLAGSHIP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50342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Pro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450342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50342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1,800万円</a:t>
            </a:r>
            <a:endParaRPr lang="en-US" sz="3200" dirty="0"/>
          </a:p>
        </p:txBody>
      </p:sp>
      <p:sp>
        <p:nvSpPr>
          <p:cNvPr id="30" name="Text 27"/>
          <p:cNvSpPr/>
          <p:nvPr/>
        </p:nvSpPr>
        <p:spPr>
          <a:xfrm>
            <a:off x="450342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464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~7.5kg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450342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64642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~109W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50342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64642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10–100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50342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64642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~10⁻⁴ (MWPM)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0342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420" y="5669280"/>
            <a:ext cx="274320" cy="274320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486918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研究・VQE / QAOA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8161020" y="2103120"/>
            <a:ext cx="3703320" cy="91440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2" name="Shape 38"/>
          <p:cNvSpPr/>
          <p:nvPr/>
        </p:nvSpPr>
        <p:spPr>
          <a:xfrm>
            <a:off x="8161020" y="3017520"/>
            <a:ext cx="370332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43" name="Text 39"/>
          <p:cNvSpPr/>
          <p:nvPr/>
        </p:nvSpPr>
        <p:spPr>
          <a:xfrm>
            <a:off x="8435340" y="226771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Max</a:t>
            </a:r>
            <a:endParaRPr lang="en-US" sz="2200" dirty="0"/>
          </a:p>
        </p:txBody>
      </p:sp>
      <p:sp>
        <p:nvSpPr>
          <p:cNvPr id="44" name="Text 40"/>
          <p:cNvSpPr/>
          <p:nvPr/>
        </p:nvSpPr>
        <p:spPr>
          <a:xfrm>
            <a:off x="8435340" y="26517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7</a:t>
            </a:r>
            <a:endParaRPr lang="en-US" sz="1300" dirty="0"/>
          </a:p>
        </p:txBody>
      </p:sp>
      <p:sp>
        <p:nvSpPr>
          <p:cNvPr id="45" name="Text 41"/>
          <p:cNvSpPr/>
          <p:nvPr/>
        </p:nvSpPr>
        <p:spPr>
          <a:xfrm>
            <a:off x="8435340" y="32004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2,550万円</a:t>
            </a:r>
            <a:endParaRPr lang="en-US" sz="3200" dirty="0"/>
          </a:p>
        </p:txBody>
      </p:sp>
      <p:sp>
        <p:nvSpPr>
          <p:cNvPr id="46" name="Text 42"/>
          <p:cNvSpPr/>
          <p:nvPr/>
        </p:nvSpPr>
        <p:spPr>
          <a:xfrm>
            <a:off x="843534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重量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957834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~9.7kg</a:t>
            </a:r>
            <a:endParaRPr lang="en-US" sz="1200" dirty="0"/>
          </a:p>
        </p:txBody>
      </p:sp>
      <p:sp>
        <p:nvSpPr>
          <p:cNvPr id="48" name="Text 44"/>
          <p:cNvSpPr/>
          <p:nvPr/>
        </p:nvSpPr>
        <p:spPr>
          <a:xfrm>
            <a:off x="843534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消費電力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9578340" y="43434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~112W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435340" y="47091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論理 qubit</a:t>
            </a:r>
            <a:endParaRPr lang="en-US" sz="1100" dirty="0"/>
          </a:p>
        </p:txBody>
      </p:sp>
      <p:sp>
        <p:nvSpPr>
          <p:cNvPr id="51" name="Text 47"/>
          <p:cNvSpPr/>
          <p:nvPr/>
        </p:nvSpPr>
        <p:spPr>
          <a:xfrm>
            <a:off x="9578340" y="47091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10–1,000+</a:t>
            </a:r>
            <a:endParaRPr lang="en-US" sz="1200" dirty="0"/>
          </a:p>
        </p:txBody>
      </p:sp>
      <p:sp>
        <p:nvSpPr>
          <p:cNvPr id="52" name="Text 48"/>
          <p:cNvSpPr/>
          <p:nvPr/>
        </p:nvSpPr>
        <p:spPr>
          <a:xfrm>
            <a:off x="8435340" y="50749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p_L</a:t>
            </a:r>
            <a:endParaRPr lang="en-US" sz="1100" dirty="0"/>
          </a:p>
        </p:txBody>
      </p:sp>
      <p:sp>
        <p:nvSpPr>
          <p:cNvPr id="53" name="Text 49"/>
          <p:cNvSpPr/>
          <p:nvPr/>
        </p:nvSpPr>
        <p:spPr>
          <a:xfrm>
            <a:off x="9578340" y="507492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5.7×10⁻⁷ (MWPM)†</a:t>
            </a:r>
            <a:endParaRPr lang="en-US" sz="1200" dirty="0"/>
          </a:p>
        </p:txBody>
      </p:sp>
      <p:sp>
        <p:nvSpPr>
          <p:cNvPr id="54" name="Shape 50"/>
          <p:cNvSpPr/>
          <p:nvPr/>
        </p:nvSpPr>
        <p:spPr>
          <a:xfrm>
            <a:off x="8435340" y="5486400"/>
            <a:ext cx="31546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pic>
        <p:nvPicPr>
          <p:cNvPr id="5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5669280"/>
            <a:ext cx="274320" cy="274320"/>
          </a:xfrm>
          <a:prstGeom prst="rect">
            <a:avLst/>
          </a:prstGeom>
        </p:spPr>
      </p:pic>
      <p:sp>
        <p:nvSpPr>
          <p:cNvPr id="56" name="Text 51"/>
          <p:cNvSpPr/>
          <p:nvPr/>
        </p:nvSpPr>
        <p:spPr>
          <a:xfrm>
            <a:off x="8801100" y="5669280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FTQC・量子化学</a:t>
            </a:r>
            <a:endParaRPr lang="en-US" sz="1200" dirty="0"/>
          </a:p>
        </p:txBody>
      </p:sp>
      <p:sp>
        <p:nvSpPr>
          <p:cNvPr id="57" name="Text 52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単一光学プラットフォーム + PMF遅延線の長さ調整のみで3製品を展開 → 量産設計コスト 1/3</a:t>
            </a:r>
            <a:endParaRPr lang="en-US" sz="1100" dirty="0"/>
          </a:p>
        </p:txBody>
      </p:sp>
      <p:sp>
        <p:nvSpPr>
          <p:cNvPr id="58" name="Text 53"/>
          <p:cNvSpPr/>
          <p:nvPr/>
        </p:nvSpPr>
        <p:spPr>
          <a:xfrm>
            <a:off x="457200" y="65379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† Max の p_L=5.7×10⁻⁷ は Phase 2+ PIC 全条件達成時の理論上限値。製品スペックは p_L ~7×10⁻⁵ (MWPM, d=7, L=0.27dB)。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「量子コンピュータの Raspberry Pi」 — ブルーオーシャン市場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  <a:gridCol w="1463040"/>
                <a:gridCol w="1463040"/>
                <a:gridCol w="1554480"/>
                <a:gridCol w="17373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製品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方式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消費電力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冷却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価格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顧客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B3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IBM Quantum System Two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超伝導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15mK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政府機関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IonQ Forte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イオン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ラック×3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30kW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高真空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大企業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Xanadu Aurora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フォトニック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ラック多数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100kW+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(SNSPD)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15億円+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4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クラウド事業者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Taros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光子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7.5kg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完全室温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1,800万円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大学・研究所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B6D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6177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市場規模 — TAM / SAM / SOM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29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715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1,250機関  ·  $150M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715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量子研究・開発全組織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229100" y="5074920"/>
            <a:ext cx="3703320" cy="141732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4577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577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650機関  ·  $78M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4577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/ QEC / 教育適合顧客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5300" y="5074920"/>
            <a:ext cx="3703320" cy="14173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343900" y="5166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Y3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43900" y="545896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100機関  ·  $12M (18億円)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343900" y="59161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3年目シェア 15% 獲得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段階的検証 → プロトタイプ → 量産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5074920"/>
            <a:ext cx="11338560" cy="0"/>
          </a:xfrm>
          <a:prstGeom prst="line">
            <a:avLst/>
          </a:prstGeom>
          <a:noFill/>
          <a:ln w="19050">
            <a:solidFill>
              <a:srgbClr val="DCE3EB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11480" y="2103120"/>
            <a:ext cx="2697480" cy="2697480"/>
          </a:xfrm>
          <a:prstGeom prst="rect">
            <a:avLst/>
          </a:prstGeom>
          <a:solidFill>
            <a:srgbClr val="0A1B30"/>
          </a:solidFill>
          <a:ln w="190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H2 – 2027 H1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原理検証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4.6億円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4008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9184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52044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 H2 – 2028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2044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Edu試作 / Break-even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2044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1.8億円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52044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0080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 – 2029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製品化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1.5億円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12-18ヶ月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2103120"/>
            <a:ext cx="2697480" cy="269748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81160" y="233172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281160" y="27432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– 2030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281160" y="3063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 (100台/年)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81160" y="379476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0.8億円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9281160" y="4343400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6-12ヶ月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371600" y="5349240"/>
            <a:ext cx="94183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1371600" y="5349240"/>
            <a:ext cx="73152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600200" y="5349240"/>
            <a:ext cx="9052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最重要マイルストーン: </a:t>
            </a:r>
            <a:pPr indent="0" marL="0">
              <a:buNone/>
            </a:pPr>
            <a:r>
              <a:rPr lang="en-US" sz="13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pPr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$58K装置直接費 (~870万円) で Level A 成功確率を 25-35% から 50%超へ引き上げ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リスクは透明に開示。レッドチーム評価を経た保守的見積り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主要リスクと緩和策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51460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6060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 13dB パルス未実証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880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NTT 12.1dB CW は実証済 → SiN clad 改良で 0.9dB ギャップを埋める。Phase −1 で検証。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38328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85800" y="347472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MWPM / Soft-info 製品化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37490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0/1 は UF 350ns で実証 → Phase 2+ PIC で MWPM 510ns へ移行。製品要件 p_L~7×10⁻⁵ には MWPM 必須。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5196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57200" y="425196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85800" y="434340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結果未取得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46177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$58K装置直接費 / $198K完全コスト で 2026年7月実施予定。失敗時は DV-FBQC へフォールバック設計済み。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120640"/>
            <a:ext cx="667512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5120640"/>
            <a:ext cx="73152" cy="77724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5800" y="521208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775nm TA 小型化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48640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DFB+TA butterfly package で対応。市販品で技術的成立性は確認済み。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315200" y="2103120"/>
            <a:ext cx="4389120" cy="402336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23774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092440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フォールバック完備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7589520" y="2971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何らかのFTQC実現確率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589520" y="32918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81 - 90 %</a:t>
            </a:r>
            <a:endParaRPr lang="en-US" sz="4400" dirty="0"/>
          </a:p>
        </p:txBody>
      </p:sp>
      <p:sp>
        <p:nvSpPr>
          <p:cNvPr id="29" name="Text 26"/>
          <p:cNvSpPr/>
          <p:nvPr/>
        </p:nvSpPr>
        <p:spPr>
          <a:xfrm>
            <a:off x="7589520" y="4114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(2030)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589520" y="4526280"/>
            <a:ext cx="384048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7589520" y="466344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 pure 81% / CV+QD 90%。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589520" y="49834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CV不成立時は DV-FBQC 方式 (本体28kg / 2.1kW / $432K) にフォールバック — 投資の下振れリスクを限定。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机上の数字ではない — 既に独立検証済み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4114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量子シミュレーション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p_phys=5×10⁻⁴, d=3/5/7 すべての論理エラー率予測を約1億ショット規模の Stim シミュレーションで再現。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2044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352044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文献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52044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公開文献との独立照合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2044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Noh-Chamberland 2022, Stafford-Menicucci-Walshe 2025 など 9件 の査読済論文と数値突合。閾値・忠実度を二重検証。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156q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実機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Quantum 実機検証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ibm_fez (156 qubit) 上でデコーダ計算量・サイクル時間を実測。FPGA設計値と整合性を確認。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9281160" y="2377440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v3.1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9281160" y="3154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確定版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281160" y="3520440"/>
            <a:ext cx="2240280" cy="0"/>
          </a:xfrm>
          <a:prstGeom prst="line">
            <a:avLst/>
          </a:prstGeom>
          <a:noFill/>
          <a:ln w="6350">
            <a:solidFill>
              <a:srgbClr val="DCE3E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281160" y="3611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ノイズバジェット v3.1 (BSモデル)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81160" y="41148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GAWBS, EO 消光比, AWG, PIC統合損失など 13項目 を BS モデルで個別計上。隠れた損失なし。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A1B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設計書 14本 (システム / ノイズ / GKP / 位相ロック / FF / デコーダ / 機械 / 工業デザイン他) 公開 — 完全な技術DD可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EFFICIENCY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段階的に検証、最小資本で世界初へ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 Go/No-Go ゲート — 失敗時の損失を限定しながら検証を進める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006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1722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75万円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722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722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原理判定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1722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Stim シミュレーション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0896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31470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45186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870万円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5186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5186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GKP光学実証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5186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$58K 装置直接費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49340" y="2468880"/>
            <a:ext cx="2697480" cy="16916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28650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1,400万円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8650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5ヶ月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8650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デモ可能データ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8650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投資家向けデモ一式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78240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9A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983980" y="2468880"/>
            <a:ext cx="2697480" cy="16916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21140" y="26060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5,600万円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21140" y="30632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12ヶ月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121140" y="333756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QEC Break-even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21140" y="3657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世界初の論理エラー抑制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4572000"/>
            <a:ext cx="6126480" cy="1920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5800" y="4709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累計開発費 — 量産可能製品まで 約8.6億円 ($5.74M)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0080" y="50840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417320" y="5120640"/>
            <a:ext cx="1614373" cy="201168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3104845" y="50840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+4.6 → 累計 4.6億円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0080" y="53949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417320" y="5431536"/>
            <a:ext cx="2248052" cy="201168"/>
          </a:xfrm>
          <a:prstGeom prst="rect">
            <a:avLst/>
          </a:prstGeom>
          <a:solidFill>
            <a:srgbClr val="0E8FB0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738524" y="53949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+1.8 → 累計 6.4億円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40080" y="5705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417320" y="5742432"/>
            <a:ext cx="2773101" cy="20116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263573" y="57058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 → 累計 7.9億円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40080" y="601675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417320" y="6053328"/>
            <a:ext cx="3017520" cy="201168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07992" y="60167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+0.8 → 累計 8.7億円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6766560" y="4572000"/>
            <a:ext cx="4937760" cy="192024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66560" y="4572000"/>
            <a:ext cx="73152" cy="1920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7040880" y="4709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競合の累計調達額 — 桁違いの資本効率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04088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PsiQuantum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9144000" y="5120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1,000億円+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704088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IonQ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144000" y="54315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900億円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04088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Xanadu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9144000" y="57424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375億円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04088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(計画)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9144000" y="6053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約8.6億円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PROJECTION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 黒字化、2033 までに 36億円 ARR を視野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-6766560" y="210312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400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黒字化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79" y="239572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2031–2032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量産30–50台で達成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943600" y="210312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943600" y="210312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126479" y="21762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粗利率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26479" y="239572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~40%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126479" y="26700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規模効果で逓増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4572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6400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 ARR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400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18億円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640079" y="440740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100台 × 1,800万円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943600" y="3840480"/>
            <a:ext cx="5029200" cy="777240"/>
          </a:xfrm>
          <a:prstGeom prst="rect">
            <a:avLst/>
          </a:prstGeom>
          <a:solidFill>
            <a:srgbClr val="F4F6FA"/>
          </a:solidFill>
          <a:ln/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943600" y="3840480"/>
            <a:ext cx="54864" cy="77724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6126479" y="391363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 ARR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126479" y="4133087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36億円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126479" y="4407407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200台 (SAM 30%超)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57200" y="5897880"/>
            <a:ext cx="11247120" cy="6400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投資論理: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失敗時上限 4.6億円 (Phase −1)、成功時 ARR 36億円 (Y4) — リスク調整後リターン 3.5倍超 </a:t>
            </a:r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(81-90% × 36億 ARR ≈ 30億 / 累計 8.6億)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8368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280160" y="448056"/>
            <a:ext cx="320040" cy="36576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789920" y="320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−1 シード — 4.6億円 / 12ヶ月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為替前提: 1USD = 150円 で換算 ($3.08M)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389120" cy="3840480"/>
          </a:xfrm>
          <a:prstGeom prst="rect">
            <a:avLst/>
          </a:prstGeom>
          <a:solidFill>
            <a:srgbClr val="0A1B3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57200" y="2377440"/>
            <a:ext cx="4389120" cy="73152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22960" y="2743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4.6 億円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シード資金で全14タスクを実行し、Phase 0 移行判断材料を取得 [v3.1: 8→12ヶ月延長確定]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5212080"/>
            <a:ext cx="3657600" cy="0"/>
          </a:xfrm>
          <a:prstGeom prst="line">
            <a:avLst/>
          </a:prstGeom>
          <a:noFill/>
          <a:ln w="6350">
            <a:solidFill>
              <a:srgbClr val="1FB6D9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2296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MILESTONE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5577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G-EXP1 (2026年7月)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2960" y="5943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A 成功確率 50%超への引き上げ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303520" y="2377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OF FUNDS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0" y="288036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0" y="292608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人件費 (11名 × 12ヶ月)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32918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理論2 + 光源2 + CV計算2 + PIC1 + 冷却2 + 制御SW2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50976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2.9 億円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303520" y="406908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0" y="411480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光学実験装置・部品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0" y="44805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PPLN OPA, EOM, AWG, ホモダイン検出系, 位相ロック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509760" y="4297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9,200万円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5303520" y="5257800"/>
            <a:ext cx="54864" cy="960120"/>
          </a:xfrm>
          <a:prstGeom prst="rect">
            <a:avLst/>
          </a:prstGeom>
          <a:solidFill>
            <a:srgbClr val="F89A2B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0" y="5303520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計算 / 外部委託 / 施設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486400" y="56692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Stim シミュレーション, GKP実験委託, クリーンブース, 既存設備活用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509760" y="54864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0E8F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約 8,300万円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143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286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4572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0" y="5715000"/>
            <a:ext cx="12161520" cy="0"/>
          </a:xfrm>
          <a:prstGeom prst="line">
            <a:avLst/>
          </a:prstGeom>
          <a:noFill/>
          <a:ln w="635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5544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8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FUTURE OF QUANTUM 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0312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デスクトップに来る。</a:t>
            </a:r>
            <a:endParaRPr lang="en-US" sz="84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室温 109W で動く誤り訂正型量子コンピュータを、世界の研究室・教室・企業 R&amp;D に。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77240" y="4434840"/>
            <a:ext cx="365760" cy="45720"/>
          </a:xfrm>
          <a:prstGeom prst="rect">
            <a:avLst/>
          </a:prstGeom>
          <a:solidFill>
            <a:srgbClr val="1FB6D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77240" y="4572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FB6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次のステップ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49377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技術 DD パッケージ (設計書14本) のレビュー  →  タームシート協議  →  Phase −1 着手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6126480"/>
            <a:ext cx="10607040" cy="0"/>
          </a:xfrm>
          <a:prstGeom prst="line">
            <a:avLst/>
          </a:prstGeom>
          <a:noFill/>
          <a:ln w="12700">
            <a:solidFill>
              <a:srgbClr val="1A2C45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8C7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TAROS  ·  Desktop Photonic Quantum Computer  ·  May 2026  ·  v3.4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TAROS Investor Pitch (Revised)</dc:title>
  <dc:subject>PptxGenJS Presentation</dc:subject>
  <dc:creator>TAROS</dc:creator>
  <cp:lastModifiedBy>TAROS</cp:lastModifiedBy>
  <cp:revision>1</cp:revision>
  <dcterms:created xsi:type="dcterms:W3CDTF">2026-05-06T03:20:26Z</dcterms:created>
  <dcterms:modified xsi:type="dcterms:W3CDTF">2026-05-06T03:20:26Z</dcterms:modified>
</cp:coreProperties>
</file>