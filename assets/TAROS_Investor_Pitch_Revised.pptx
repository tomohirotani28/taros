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Arial"/>
              </a:rPr>
              <a:t>売上 / 粗利 推移 (億円)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FB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Y1 (20台)</c:v>
                  </c:pt>
                  <c:pt idx="1">
                    <c:v>Y2 (50台)</c:v>
                  </c:pt>
                  <c:pt idx="2">
                    <c:v>Y3 (100台)</c:v>
                  </c:pt>
                  <c:pt idx="3">
                    <c:v>Y4 (200台)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</c:v>
                </c:pt>
                <c:pt idx="1">
                  <c:v>9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粗利 (~40%)</c:v>
                </c:pt>
              </c:strCache>
            </c:strRef>
          </c:tx>
          <c:spPr>
            <a:solidFill>
              <a:srgbClr val="0E8F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Y1 (20台)</c:v>
                  </c:pt>
                  <c:pt idx="1">
                    <c:v>Y2 (50台)</c:v>
                  </c:pt>
                  <c:pt idx="2">
                    <c:v>Y3 (100台)</c:v>
                  </c:pt>
                  <c:pt idx="3">
                    <c:v>Y4 (200台)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1.5</c:v>
                </c:pt>
                <c:pt idx="1">
                  <c:v>3.75</c:v>
                </c:pt>
                <c:pt idx="2">
                  <c:v>7.5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1554480"/>
            <a:ext cx="54864" cy="365760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150876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Photonic Quantum Computer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アダプタで動く デスクサイド誤り訂正型量子コンピュータ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 CV + GKP + macronode TDM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完全室温・109W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1,350万〜2,550万円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1B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「電源コンセントとLANケーブルで動く量子コンピュータ」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3434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3434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3375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010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010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アダプタ駆動 109W (Pro)。冷凍機・特殊配管なし。電源を入れた瞬間から動作する量子コンピュータ。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7482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27482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333756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058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デスクサイド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058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7.5kg / Edu 4.3kg。研究室間の持ち運び・出張デモ・教室への配備が可能なポータブル筐体。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530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11530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3337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8106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誤り訂正型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48106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≲ 10⁻⁴ (d=7, MWPM, 製品要件)。Phase 2+ PIC 統合で論理エラー率を物理エラー率以下へ。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量子コンピュータは「データセンター専用」で止まっている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超伝導・イオン方式は希釈冷凍機 (15mK) または高真空イオントラップを必須とし、原理的に小型化が不可能。研究室・教室・産業現場には届かない。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15mK ~ 4K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希釈冷凍機 / He冷凍機が必須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38328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~ 200kW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施設の専用配電が必要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部屋規模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4652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既存建屋への設置に改装が必要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112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23544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4.5〜22.5億円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3544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数台単位、購入は政府・大企業のみ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結果として、量子コンピュータを「実機で触れる」研究者は世界で1万人未満。教育・研究のボトルネックに。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光だから、室温で動く。光だから、デスクに置ける。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7.5kg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モデル(WDM込み)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109W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6616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USB-PD EPR 駆動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0K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冷凍機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14400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— 技術スタック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PPLN導波路OPA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 スクイーズド光生成 (NTT 12.1dB CW実証ベース)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6868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macronode TDM クラスタ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光ファイバ遅延線で時分割に論理qubitを量産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6868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 + 表面符号 (d=3/5/7)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868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2+ PIC 統合で +3.4dB マージンを確保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— 今、成立する理由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4652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62940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PPLN導波路の量産化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940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NTT・住友・nLight が商用ライン稼働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4652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2940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Soft-info MWPM デコーダの成熟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 で閾値1.5%が確立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4652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62940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Versal FPGA 27ns フィードフォワード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2940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光-電気-光ループが ns 級で閉じる時代に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性能の根拠 — 数字は文献と独立計算で裏付け済み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生成スクイージング σ_gen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5176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9260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L=0.27dB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92608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全劣化 (BSモデル)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PIC統合・GAWBS・PD QE 込み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12064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9.5dB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12064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 BS モデル (現実Δ=0.12)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2376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~3×10⁻³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物理エラー率 (erfc)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23544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18320" y="2103120"/>
            <a:ext cx="210312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50976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~7×10⁻⁵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0976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(d=7, MWPM)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0976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製品要件 (理論限界 5.7×10⁻⁷)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114800"/>
            <a:ext cx="11247120" cy="23774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97280" y="431596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閾値マージン — Phase 2+ PIC 統合での量子誤り訂正成立余裕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7724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 (Phase 2+ PIC現実)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26080" y="498348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2926080" y="4983480"/>
            <a:ext cx="6652260" cy="256032"/>
          </a:xfrm>
          <a:prstGeom prst="rect">
            <a:avLst/>
          </a:prstGeom>
          <a:solidFill>
            <a:srgbClr val="20C997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9624060" y="4965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 dB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(全モード重み)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926080" y="5394960"/>
            <a:ext cx="6035040" cy="256032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0068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 dB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77240" y="5788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(postselection)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2926080" y="580644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4" name="Shape 41"/>
          <p:cNvSpPr/>
          <p:nvPr/>
        </p:nvSpPr>
        <p:spPr>
          <a:xfrm>
            <a:off x="2926080" y="5806440"/>
            <a:ext cx="4320540" cy="25603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292340" y="57881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dB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Phase 2+ PIC 余裕 +3.4dB (PS) / +0.9dB (全モード) — 製品要件 p_L ≲ 10⁻⁴ を達成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単一プラットフォームで 3 製品 — d=3/5/7 スケーリング戦略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718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8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150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Edu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150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1,350万円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7150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1450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~4.3kg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150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1450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~104W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450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150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1450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~10⁻² (MWPM)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566928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3726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教育・QEC研究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2910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229100" y="3017520"/>
            <a:ext cx="3703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0342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Pro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50342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0342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30" name="Text 27"/>
          <p:cNvSpPr/>
          <p:nvPr/>
        </p:nvSpPr>
        <p:spPr>
          <a:xfrm>
            <a:off x="450342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464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~7.5kg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0342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4642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~109W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0342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4642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50342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4642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~10⁻⁴ (MWPM)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0342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5669280"/>
            <a:ext cx="274320" cy="27432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486918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研究・VQE / QAOA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16102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2" name="Shape 38"/>
          <p:cNvSpPr/>
          <p:nvPr/>
        </p:nvSpPr>
        <p:spPr>
          <a:xfrm>
            <a:off x="816102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43" name="Text 39"/>
          <p:cNvSpPr/>
          <p:nvPr/>
        </p:nvSpPr>
        <p:spPr>
          <a:xfrm>
            <a:off x="843534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Max</a:t>
            </a:r>
            <a:endParaRPr lang="en-US" sz="2200" dirty="0"/>
          </a:p>
        </p:txBody>
      </p:sp>
      <p:sp>
        <p:nvSpPr>
          <p:cNvPr id="44" name="Text 40"/>
          <p:cNvSpPr/>
          <p:nvPr/>
        </p:nvSpPr>
        <p:spPr>
          <a:xfrm>
            <a:off x="843534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7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43534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2,550万円</a:t>
            </a:r>
            <a:endParaRPr lang="en-US" sz="3200" dirty="0"/>
          </a:p>
        </p:txBody>
      </p:sp>
      <p:sp>
        <p:nvSpPr>
          <p:cNvPr id="46" name="Text 42"/>
          <p:cNvSpPr/>
          <p:nvPr/>
        </p:nvSpPr>
        <p:spPr>
          <a:xfrm>
            <a:off x="84353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957834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~9.7kg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843534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57834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~112W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43534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51" name="Text 47"/>
          <p:cNvSpPr/>
          <p:nvPr/>
        </p:nvSpPr>
        <p:spPr>
          <a:xfrm>
            <a:off x="957834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10–1,000+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843534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957834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5.7×10⁻⁷ (MWPM)†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843534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5669280"/>
            <a:ext cx="274320" cy="274320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880110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FTQC・量子化学</a:t>
            </a:r>
            <a:endParaRPr lang="en-US" sz="1200" dirty="0"/>
          </a:p>
        </p:txBody>
      </p:sp>
      <p:sp>
        <p:nvSpPr>
          <p:cNvPr id="57" name="Text 5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単一光学プラットフォーム + PMF遅延線の長さ調整のみで3製品を展開 → 量産設計コスト 1/3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 Max の p_L=5.7×10⁻⁷ は Phase 2+ PIC 全条件達成時の理論上限値。製品スペックは p_L ~7×10⁻⁵ (MWPM, d=7, L=0.27dB)。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「量子コンピュータの Raspberry Pi」 — ブルーオーシャン市場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463040"/>
                <a:gridCol w="1463040"/>
                <a:gridCol w="155448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製品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消費電力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価格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顧客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IBM Quantum System Two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超伝導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政府機関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IonQ Forte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イオン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ラック×3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高真空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大企業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Xanadu Aurora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フォトニック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ラック多数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(SNSPD)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クラウド事業者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Taros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光子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7.5kg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完全室温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1,800万円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大学・研究所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市場規模 — TAM / SAM / SOM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29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5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1,250機関  ·  225億円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15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量子研究・開発全組織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291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4577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577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650機関  ·  約117億円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4577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/ QEC / 教育適合顧客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5300" y="5074920"/>
            <a:ext cx="3703320" cy="14173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3439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439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100機関  ·  18億円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439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3年目シェア 15% 獲得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段階的検証 → プロトタイプ → 量産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5074920"/>
            <a:ext cx="1133856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2103120"/>
            <a:ext cx="2697480" cy="2697480"/>
          </a:xfrm>
          <a:prstGeom prst="rect">
            <a:avLst/>
          </a:prstGeom>
          <a:solidFill>
            <a:srgbClr val="0A1B30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原理検証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4.6億円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Edu試作 / Break-even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2044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1.8億円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2044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製品化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8116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8116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8116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 (100台/年)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8116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0.8億円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28116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5349240"/>
            <a:ext cx="94183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371600" y="5349240"/>
            <a:ext cx="73152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600200" y="5349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最重要マイルストーン: </a:t>
            </a:r>
            <a:pPr indent="0" marL="0">
              <a:buNone/>
            </a:pPr>
            <a:r>
              <a:rPr lang="en-US" sz="13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約870万円の装置直接費で Level A 成功確率を 25-35% から 50%超へ引き上げ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ASSESSMENT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リスクは透明に開示。レッドチーム評価を経た保守的見積り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主要リスクと緩和策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51460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6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 13dB パルス未実証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12.1dB CW は実証済 → SiN clad 改良で 0.9dB ギャップを埋める。Phase −1 で検証。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38328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3474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MWPM / Soft-info 製品化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3749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0/1 は UF 350ns で実証 → Phase 2+ PIC で MWPM 510ns へ移行。製品要件 p_L~7×10⁻⁵ には MWPM 必須。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425196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4343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結果未取得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617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 / 約3,000万円 で Phase -1 開始後2ヶ月に実施。失敗時は DV-FBQC へフォールバック設計済み。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512064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5212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775nm TA 小型化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4864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DFB+TA butterfly package で対応。市販品で技術的成立性は確認済み。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103120"/>
            <a:ext cx="4389120" cy="402336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3774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924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フォールバック完備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58952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何らかのFTQC実現確率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589520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81 - 90 %</a:t>
            </a:r>
            <a:endParaRPr lang="en-US" sz="4400" dirty="0"/>
          </a:p>
        </p:txBody>
      </p:sp>
      <p:sp>
        <p:nvSpPr>
          <p:cNvPr id="29" name="Text 26"/>
          <p:cNvSpPr/>
          <p:nvPr/>
        </p:nvSpPr>
        <p:spPr>
          <a:xfrm>
            <a:off x="758952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(開始後約4年)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9520" y="4526280"/>
            <a:ext cx="384048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58952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pure 81% / CV+QD 90%。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589520" y="4983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CV不成立時は DV-FBQC 方式 (本体28kg / 2.1kW / 約6,500万円) にフォールバック — 投資の下振れリスクを限定。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机上の数字ではない — 既に独立検証済み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量子シミュレーション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p_phys=5×10⁻⁴, d=3/5/7 すべての論理エラー率予測を約1億ショット規模の Stim シミュレーションで再現。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2044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文献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2044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公開文献との独立照合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2022, Stafford-Menicucci-Walshe 2025 など 9件 の査読済論文と数値突合。閾値・忠実度を二重検証。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156q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Quantum 実機検証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ibm_fez (156 qubit) 上でデコーダ計算量・サイクル時間を実測。FPGA設計値と整合性を確認。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28116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2811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確定版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8116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28116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ノイズバジェット v3.1 (BSモデル)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811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GAWBS, EO 消光比, AWG, PIC統合損失など 13項目 を BS モデルで個別計上。隠れた損失なし。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設計書 14本 (システム / ノイズ / GKP / 位相ロック / FF / デコーダ / 機械 / 工業デザイン他) 公開 — 完全な技術DD可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EFFICIENCY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段階的に検証、最小資本で世界初へ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 Go/No-Go ゲート — 失敗時の損失を限定しながら検証を進める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1722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75万円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722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原理判定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Stim シミュレーション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1470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5186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870万円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5186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5186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GKP光学実証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5186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934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8650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1,400万円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8650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8650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デモ可能データ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8650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投資家向けデモ一式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7824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983980" y="2468880"/>
            <a:ext cx="269748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2114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5,600万円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2114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2114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QEC Break-even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2114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世界初の論理エラー抑制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6126480" cy="1920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5800" y="4709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累計開発費 — 量産可能製品まで 約8.7億円 ($5.78M)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50840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17320" y="5120640"/>
            <a:ext cx="1614373" cy="201168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104845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+4.6 → 累計 4.6億円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5394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417320" y="5431536"/>
            <a:ext cx="2248052" cy="201168"/>
          </a:xfrm>
          <a:prstGeom prst="rect">
            <a:avLst/>
          </a:prstGeom>
          <a:solidFill>
            <a:srgbClr val="0E8FB0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38524" y="5394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+1.8 → 累計 6.4億円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" y="5705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17320" y="5742432"/>
            <a:ext cx="2773101" cy="20116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263573" y="5705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 → 累計 7.9億円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016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417320" y="6053328"/>
            <a:ext cx="3017520" cy="201168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07992" y="6016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+0.8 → 累計 8.7億円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766560" y="4572000"/>
            <a:ext cx="4937760" cy="192024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66560" y="4572000"/>
            <a:ext cx="73152" cy="1920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40880" y="4709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競合の累計調達額 — 桁違いの資本効率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4088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PsiQuantum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1,000億円+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4088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4400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900億円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04088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Xanadu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4400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375億円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4088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(計画)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約8.7億円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PROJECTION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黒字化から36億円 ARR を視野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57200" y="27889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57200" y="27889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0079" y="28620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79" y="30815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2完了後1〜2年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0079" y="3355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量産30–50台で達成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0" y="27889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5943600" y="27889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126479" y="28620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粗利率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26479" y="308152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~33%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26479" y="3355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規模効果で逓増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74904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57200" y="374904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40079" y="3822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ARR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79" y="404164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18億円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640079" y="43159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100台 × 1,800万円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43600" y="374904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943600" y="374904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6126479" y="3822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 ARR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126479" y="404164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36億円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126479" y="4315967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200台 (SAM 30%超)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投資論理: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失敗時上限 4.6億円 (Phase −1)、成功時 ARR 36億円 (Y4) — リスク調整後リターン 3.5倍超 </a:t>
            </a:r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(81-90% × 36億 ARR ≈ 30億 / 累計 8.7億)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03504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 シード — 4.6億円 / 12ヶ月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 換算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389120" cy="38404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377440"/>
            <a:ext cx="438912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億円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シード資金で全14タスクを実行し、Phase 0 移行判断材料を取得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212080"/>
            <a:ext cx="365760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A 成功確率 50%超への引き上げ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288036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0" y="29260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人件費 (11名 × 12ヶ月)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918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理論2 + 光源2 + CV計算2 + PIC1 + 冷却2 + 制御SW2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097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2.9 億円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03520" y="406908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411480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光学実験装置・部品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4480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OPA, EOM, AWG, ホモダイン検出系, 位相ロック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09760" y="4297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9,200万円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303520" y="525780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0" y="5303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計算 / 外部委託 / 施設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56692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シミュレーション, GKP実験委託, クリーンブース, 既存設備活用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5486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8,300万円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54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QUANTUM 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デスクトップに来る。</a:t>
            </a:r>
            <a:endParaRPr lang="en-US" sz="84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室温 109W で動く誤り訂正型量子コンピュータを、世界の研究室・教室・企業 R&amp;D に。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365760" cy="457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次のステップ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 DD パッケージ (設計書14本) のレビュー  →  タームシート協議  →  Phase −1 着手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6126480"/>
            <a:ext cx="10607040" cy="0"/>
          </a:xfrm>
          <a:prstGeom prst="line">
            <a:avLst/>
          </a:prstGeom>
          <a:noFill/>
          <a:ln w="1270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 ·  Desktop Photonic Quantum Computer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TAROS Investor Pitch (Revised)</dc:title>
  <dc:subject>PptxGenJS Presentation</dc:subject>
  <dc:creator>TAROS</dc:creator>
  <cp:lastModifiedBy>TAROS</cp:lastModifiedBy>
  <cp:revision>1</cp:revision>
  <dcterms:created xsi:type="dcterms:W3CDTF">2026-05-06T03:20:26Z</dcterms:created>
  <dcterms:modified xsi:type="dcterms:W3CDTF">2026-05-06T03:20:26Z</dcterms:modified>
</cp:coreProperties>
</file>